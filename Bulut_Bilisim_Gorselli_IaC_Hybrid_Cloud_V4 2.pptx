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hgAbrZH48BJ/nLy4BWw9ubIVZq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customschemas.google.com/relationships/presentationmetadata" Target="metadata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Açılış: Bulut, sadece başka birinin sunucusu değildir; kaynakları standart, ölçülebilir ve self-service bir hizmete dönüştüren işletim modelidir.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https://www.nist.gov/publications/nist-definition-cloud-computing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Sunumun öğrenme hedefleri.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https://docs.openstack.org/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NIST temel özellikleri: on-demand self-service, broad network access, resource pooling, rapid elasticity ve measured service.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https://www.nist.gov/publications/nist-definition-cloud-computing</a:t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NIST esas özellikleri.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https://www.nist.gov/publications/nist-definition-cloud-computing</a:t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Bulutun faydalarını teknik ve operasyonel sonuçlarla bağlayın.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https://docs.openstack.org/</a:t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Dağıtım modelleri kurumun sahiplik, kontrol, lokasyon ve entegrasyon tercihini tarif eder.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https://www.nist.gov/publications/nist-definition-cloud-computing</a:t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Public cloud güçlü yönleri ve trade-offları.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https://docs.openstack.org/</a:t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Private cloud tanımı.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https://www.nist.gov/publications/nist-definition-cloud-computing</a:t>
            </a:r>
            <a:endParaRPr/>
          </a:p>
        </p:txBody>
      </p:sp>
      <p:sp>
        <p:nvSpPr>
          <p:cNvPr id="171" name="Google Shape;17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Hybrid cloud ortak yönetim, kimlik, bağlantı ve politika katmanları ister.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https://docs.openstack.org/</a:t>
            </a:r>
            <a:endParaRPr/>
          </a:p>
        </p:txBody>
      </p:sp>
      <p:sp>
        <p:nvSpPr>
          <p:cNvPr id="192" name="Google Shape;19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Hybrid cloud kullanım örnekleri: cloud bursting, felaket kurtarma, veri yerleşimi ve aşamalı modernizasyon. Ortamlar arasında ağ, kimlik, DNS, politika ve gözlemleme standartlaştırılmalıdır.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https://www.nist.gov/publications/nist-definition-cloud-computing</a:t>
            </a:r>
            <a:endParaRPr/>
          </a:p>
        </p:txBody>
      </p:sp>
      <p:sp>
        <p:nvSpPr>
          <p:cNvPr id="214" name="Google Shape;21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Karar çerçevesi.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https://docs.openstack.org/</a:t>
            </a:r>
            <a:endParaRPr/>
          </a:p>
        </p:txBody>
      </p:sp>
      <p:sp>
        <p:nvSpPr>
          <p:cNvPr id="241" name="Google Shape;24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NIST servis modelleri: IaaS, PaaS, SaaS. Sorumluluk sınırını gösterin.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https://www.nist.gov/publications/nist-definition-cloud-computing</a:t>
            </a:r>
            <a:endParaRPr/>
          </a:p>
        </p:txBody>
      </p:sp>
      <p:sp>
        <p:nvSpPr>
          <p:cNvPr id="263" name="Google Shape;26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OpenStack IaaS servisleri.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https://docs.openstack.org/2025.2/</a:t>
            </a:r>
            <a:endParaRPr/>
          </a:p>
        </p:txBody>
      </p:sp>
      <p:sp>
        <p:nvSpPr>
          <p:cNvPr id="347" name="Google Shape;34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PaaS soyutlaması. Kubernetes tek başına tam PaaS değildir; platform yeteneklerinin temelidir.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https://docs.openstack.org/</a:t>
            </a:r>
            <a:endParaRPr/>
          </a:p>
        </p:txBody>
      </p:sp>
      <p:sp>
        <p:nvSpPr>
          <p:cNvPr id="374" name="Google Shape;37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SaaS servis modeli.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https://www.nist.gov/publications/nist-definition-cloud-computing</a:t>
            </a:r>
            <a:endParaRPr/>
          </a:p>
        </p:txBody>
      </p:sp>
      <p:sp>
        <p:nvSpPr>
          <p:cNvPr id="399" name="Google Shape;39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6" name="Google Shape;416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XaaS örnekleri; kurum kataloglarında yaygın görülen servis sınıfları.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https://docs.openstack.org/</a:t>
            </a:r>
            <a:endParaRPr/>
          </a:p>
        </p:txBody>
      </p:sp>
      <p:sp>
        <p:nvSpPr>
          <p:cNvPr id="417" name="Google Shape;41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Private cloud programı platform, süreç ve ekip tasarımıyla başlar.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https://docs.openstack.org/</a:t>
            </a:r>
            <a:endParaRPr/>
          </a:p>
        </p:txBody>
      </p:sp>
      <p:sp>
        <p:nvSpPr>
          <p:cNvPr id="444" name="Google Shape;444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8" name="Google Shape;46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Infrastructure as Code, altyapı kaynaklarını sürüm kontrollü ve tekrarlanabilir tanımlarla yönetir. Terraform plan/apply akışı değişiklikleri uygulamadan önce görünür kılar.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https://developer.hashicorp.com/terraform/intro</a:t>
            </a:r>
            <a:endParaRPr/>
          </a:p>
        </p:txBody>
      </p:sp>
      <p:sp>
        <p:nvSpPr>
          <p:cNvPr id="469" name="Google Shape;46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2" name="Google Shape;492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Public cloud veri saklama güvenliği; sınıflandırma, şifreleme, anahtar yönetimi, özel erişim ve kurtarma kontrollerine dayanır.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https://csrc.nist.gov/publications/detail/sp/800-144/final</a:t>
            </a:r>
            <a:endParaRPr/>
          </a:p>
        </p:txBody>
      </p:sp>
      <p:sp>
        <p:nvSpPr>
          <p:cNvPr id="493" name="Google Shape;493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Shared responsibility modeli: güvenliğin kapsamı kullanılan bulut hizmetine göre paylaşılır.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https://csrc.nist.gov/publications/detail/sp/800-144/final</a:t>
            </a:r>
            <a:endParaRPr/>
          </a:p>
        </p:txBody>
      </p:sp>
      <p:sp>
        <p:nvSpPr>
          <p:cNvPr id="513" name="Google Shape;513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6" name="Google Shape;536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Bulut güvenliği avantajları doğru yapılandırma ve yönetişim olduğunda ortaya çıkar.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https://csrc.nist.gov/publications/detail/sp/800-144/final</a:t>
            </a:r>
            <a:endParaRPr/>
          </a:p>
        </p:txBody>
      </p:sp>
      <p:sp>
        <p:nvSpPr>
          <p:cNvPr id="537" name="Google Shape;537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0" name="Google Shape;560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Bulut riskleri yanlış yapılandırma, kimlik, bağımlılık, mevzuat ve görünürlük başlıklarında değerlendirilmelidir.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https://csrc.nist.gov/publications/detail/sp/800-144/final</a:t>
            </a:r>
            <a:endParaRPr/>
          </a:p>
        </p:txBody>
      </p:sp>
      <p:sp>
        <p:nvSpPr>
          <p:cNvPr id="561" name="Google Shape;561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4" name="Google Shape;584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Veri güvenliği tam yaşam döngüsünü kapsar.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https://csrc.nist.gov/pubs/sp/800/53/r5/upd1/final</a:t>
            </a:r>
            <a:endParaRPr/>
          </a:p>
        </p:txBody>
      </p:sp>
      <p:sp>
        <p:nvSpPr>
          <p:cNvPr id="585" name="Google Shape;585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7" name="Google Shape;617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Şifreleme ve anahtar yönetimi birlikte ele alınmalıdır.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https://csrc.nist.gov/pubs/sp/800/57/pt1/r5/final</a:t>
            </a:r>
            <a:endParaRPr/>
          </a:p>
        </p:txBody>
      </p:sp>
      <p:sp>
        <p:nvSpPr>
          <p:cNvPr id="618" name="Google Shape;618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5" name="Google Shape;635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Zero Trust ve kimlik merkezli erişim ilkeleri.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https://csrc.nist.gov/publications/detail/sp/800-207/final</a:t>
            </a:r>
            <a:endParaRPr/>
          </a:p>
        </p:txBody>
      </p:sp>
      <p:sp>
        <p:nvSpPr>
          <p:cNvPr id="636" name="Google Shape;636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7" name="Google Shape;657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Yedekleme ve kurtarma stratejisi iş etki analiziyle belirlenmelidir.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https://csrc.nist.gov/publications/detail/sp/800-34/rev-1/final</a:t>
            </a:r>
            <a:endParaRPr/>
          </a:p>
        </p:txBody>
      </p:sp>
      <p:sp>
        <p:nvSpPr>
          <p:cNvPr id="658" name="Google Shape;658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9" name="Google Shape;679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Uyumluluk gereksinimleri ülke, sektör ve veri sınıfına göre değerlendirilir.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https://www.kvkk.gov.tr/</a:t>
            </a:r>
            <a:endParaRPr/>
          </a:p>
        </p:txBody>
      </p:sp>
      <p:sp>
        <p:nvSpPr>
          <p:cNvPr id="680" name="Google Shape;680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3" name="Google Shape;703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Kontrol listesi NIST güvenlik ve süreklilik prensiplerinin pratik özetidir.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https://csrc.nist.gov/pubs/sp/800/53/r5/upd1/final</a:t>
            </a:r>
            <a:endParaRPr/>
          </a:p>
        </p:txBody>
      </p:sp>
      <p:sp>
        <p:nvSpPr>
          <p:cNvPr id="704" name="Google Shape;704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6" name="Google Shape;736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Day-2 operasyon odağı.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https://docs.openstack.org/</a:t>
            </a:r>
            <a:endParaRPr/>
          </a:p>
        </p:txBody>
      </p:sp>
      <p:sp>
        <p:nvSpPr>
          <p:cNvPr id="737" name="Google Shape;737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8" name="Google Shape;758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Örnek güvenli bulut yol haritası; süre kurumun hazırlığına göre değişir.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https://docs.openstack.org/</a:t>
            </a:r>
            <a:endParaRPr/>
          </a:p>
        </p:txBody>
      </p:sp>
      <p:sp>
        <p:nvSpPr>
          <p:cNvPr id="759" name="Google Shape;759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6" name="Google Shape;776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Kapanış: hedef güvenilir, tüketilebilir ve veriyi yaşam döngüsü boyunca koruyan bir bulut hizmetidir.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https://docs.openstack.org/</a:t>
            </a:r>
            <a:endParaRPr/>
          </a:p>
        </p:txBody>
      </p:sp>
      <p:sp>
        <p:nvSpPr>
          <p:cNvPr id="777" name="Google Shape;777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0" name="Google Shape;800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Tartışma ve soru-cevap.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https://docs.openstack.org/</a:t>
            </a:r>
            <a:endParaRPr/>
          </a:p>
        </p:txBody>
      </p:sp>
      <p:sp>
        <p:nvSpPr>
          <p:cNvPr id="801" name="Google Shape;801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9550" cy="6858000"/>
          </a:xfrm>
          <a:prstGeom prst="roundRect">
            <a:avLst>
              <a:gd fmla="val 50000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04850" y="1066800"/>
            <a:ext cx="5619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0B1220"/>
                </a:solidFill>
              </a:rPr>
              <a:t>Bulut Bilişim</a:t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42950" y="2095500"/>
            <a:ext cx="5429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52606D"/>
                </a:solidFill>
              </a:rPr>
              <a:t>Modeller, servis katmanları, private cloud ve veri güvenliği</a:t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42950" y="3714750"/>
            <a:ext cx="5429250" cy="514350"/>
          </a:xfrm>
          <a:prstGeom prst="roundRect">
            <a:avLst>
              <a:gd fmla="val 22222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857250" y="3829050"/>
            <a:ext cx="5200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Kavram → Karar → Güvenlik → Uygulama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62000" y="6191250"/>
            <a:ext cx="400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Teknik ekipler için • 60 dakika</a:t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01</a:t>
            </a:r>
            <a:endParaRPr/>
          </a:p>
        </p:txBody>
      </p:sp>
      <p:pic>
        <p:nvPicPr>
          <p:cNvPr id="23" name="Google Shape;23;p1"/>
          <p:cNvPicPr preferRelativeResize="0"/>
          <p:nvPr/>
        </p:nvPicPr>
        <p:blipFill rotWithShape="1">
          <a:blip r:embed="rId3">
            <a:alphaModFix/>
          </a:blip>
          <a:srcRect b="0" l="21860" r="21860" t="0"/>
          <a:stretch/>
        </p:blipFill>
        <p:spPr>
          <a:xfrm>
            <a:off x="6762750" y="762000"/>
            <a:ext cx="4762500" cy="4762500"/>
          </a:xfrm>
          <a:prstGeom prst="roundRect">
            <a:avLst>
              <a:gd fmla="val 24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YOL HARİTASI</a:t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Bugün cevaplayacağımız dört soru</a:t>
            </a:r>
            <a:endParaRPr/>
          </a:p>
        </p:txBody>
      </p:sp>
      <p:cxnSp>
        <p:nvCxnSpPr>
          <p:cNvPr id="31" name="Google Shape;31;p2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2"/>
          <p:cNvSpPr/>
          <p:nvPr/>
        </p:nvSpPr>
        <p:spPr>
          <a:xfrm>
            <a:off x="666750" y="1714500"/>
            <a:ext cx="5143500" cy="1571625"/>
          </a:xfrm>
          <a:prstGeom prst="roundRect">
            <a:avLst>
              <a:gd fmla="val 7273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876300" y="1905000"/>
            <a:ext cx="571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775E6"/>
                </a:solidFill>
              </a:rPr>
              <a:t>01</a:t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1524000" y="1905000"/>
            <a:ext cx="390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0B1220"/>
                </a:solidFill>
              </a:rPr>
              <a:t>Bulut nedir?</a:t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524000" y="2381250"/>
            <a:ext cx="3905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2606D"/>
                </a:solidFill>
              </a:rPr>
              <a:t>Hangi işletim özellikleri onu “bulut” yapar?</a:t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286500" y="1714500"/>
            <a:ext cx="5143500" cy="1571625"/>
          </a:xfrm>
          <a:prstGeom prst="roundRect">
            <a:avLst>
              <a:gd fmla="val 7273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496050" y="1905000"/>
            <a:ext cx="571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775E6"/>
                </a:solidFill>
              </a:rPr>
              <a:t>02</a:t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7143750" y="1905000"/>
            <a:ext cx="390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0B1220"/>
                </a:solidFill>
              </a:rPr>
              <a:t>Hangi model?</a:t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143750" y="2381250"/>
            <a:ext cx="3905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2606D"/>
                </a:solidFill>
              </a:rPr>
              <a:t>Public, private, hybrid veya multi-cloud?</a:t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66750" y="3667125"/>
            <a:ext cx="5143500" cy="1571625"/>
          </a:xfrm>
          <a:prstGeom prst="roundRect">
            <a:avLst>
              <a:gd fmla="val 7273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76300" y="3857625"/>
            <a:ext cx="571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775E6"/>
                </a:solidFill>
              </a:rPr>
              <a:t>03</a:t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1524000" y="3857625"/>
            <a:ext cx="390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0B1220"/>
                </a:solidFill>
              </a:rPr>
              <a:t>Hangi servis?</a:t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524000" y="4333875"/>
            <a:ext cx="3905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2606D"/>
                </a:solidFill>
              </a:rPr>
              <a:t>IaaS, PaaS, SaaS ve sorumluluk sınırı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286500" y="3667125"/>
            <a:ext cx="5143500" cy="1571625"/>
          </a:xfrm>
          <a:prstGeom prst="roundRect">
            <a:avLst>
              <a:gd fmla="val 7273" name="adj"/>
            </a:avLst>
          </a:prstGeom>
          <a:solidFill>
            <a:srgbClr val="E8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496050" y="3857625"/>
            <a:ext cx="571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775E6"/>
                </a:solidFill>
              </a:rPr>
              <a:t>04</a:t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143750" y="3857625"/>
            <a:ext cx="390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0B1220"/>
                </a:solidFill>
              </a:rPr>
              <a:t>Veri nasıl korunur?</a:t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7143750" y="4333875"/>
            <a:ext cx="3905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2606D"/>
                </a:solidFill>
              </a:rPr>
              <a:t>Avantajlar, riskler ve temel güvenlik kontrolleri</a:t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BULUT BİLİŞİM</a:t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Bulut, kaynağı üründen hizmete dönüştürür</a:t>
            </a:r>
            <a:endParaRPr/>
          </a:p>
        </p:txBody>
      </p:sp>
      <p:cxnSp>
        <p:nvCxnSpPr>
          <p:cNvPr id="56" name="Google Shape;56;p3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3"/>
          <p:cNvSpPr/>
          <p:nvPr/>
        </p:nvSpPr>
        <p:spPr>
          <a:xfrm>
            <a:off x="781050" y="17907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220"/>
                </a:solidFill>
              </a:rPr>
              <a:t>Geleneksel</a:t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7162800" y="17907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775E6"/>
                </a:solidFill>
              </a:rPr>
              <a:t>Bulut işletim modeli</a:t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781050" y="2524125"/>
            <a:ext cx="2000250" cy="514350"/>
          </a:xfrm>
          <a:prstGeom prst="roundRect">
            <a:avLst>
              <a:gd fmla="val 22222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895350" y="2638425"/>
            <a:ext cx="1771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220"/>
                </a:solidFill>
              </a:rPr>
              <a:t>Satın al</a:t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2952750" y="2524125"/>
            <a:ext cx="2000250" cy="514350"/>
          </a:xfrm>
          <a:prstGeom prst="roundRect">
            <a:avLst>
              <a:gd fmla="val 22222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3067050" y="2638425"/>
            <a:ext cx="1771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220"/>
                </a:solidFill>
              </a:rPr>
              <a:t>Kur</a:t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5124450" y="2524125"/>
            <a:ext cx="1524000" cy="514350"/>
          </a:xfrm>
          <a:prstGeom prst="roundRect">
            <a:avLst>
              <a:gd fmla="val 22222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5238750" y="2638425"/>
            <a:ext cx="1295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220"/>
                </a:solidFill>
              </a:rPr>
              <a:t>Bekle</a:t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667500" y="2571750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2775E6"/>
                </a:solidFill>
              </a:rPr>
              <a:t>→</a:t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7162800" y="2524125"/>
            <a:ext cx="1809750" cy="514350"/>
          </a:xfrm>
          <a:prstGeom prst="roundRect">
            <a:avLst>
              <a:gd fmla="val 22222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7277100" y="2638425"/>
            <a:ext cx="1581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Talep et</a:t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9144000" y="2524125"/>
            <a:ext cx="1809750" cy="514350"/>
          </a:xfrm>
          <a:prstGeom prst="roundRect">
            <a:avLst>
              <a:gd fmla="val 22222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9258300" y="2638425"/>
            <a:ext cx="1581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Kullan</a:t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7162800" y="3238500"/>
            <a:ext cx="1809750" cy="514350"/>
          </a:xfrm>
          <a:prstGeom prst="roundRect">
            <a:avLst>
              <a:gd fmla="val 22222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7277100" y="3352800"/>
            <a:ext cx="1581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Bırak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9144000" y="3238500"/>
            <a:ext cx="1809750" cy="514350"/>
          </a:xfrm>
          <a:prstGeom prst="roundRect">
            <a:avLst>
              <a:gd fmla="val 22222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9258300" y="3352800"/>
            <a:ext cx="1581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Ölç</a:t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81050" y="4686300"/>
            <a:ext cx="10096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0B1220"/>
                </a:solidFill>
              </a:rPr>
              <a:t>Değer önerisi: hız, standartlaşma, otomasyon ve ölçülebilir tüketim.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BULUT BİLİŞİM</a:t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Bir altyapının “bulut” sayılması için 5 özellik</a:t>
            </a:r>
            <a:endParaRPr/>
          </a:p>
        </p:txBody>
      </p:sp>
      <p:cxnSp>
        <p:nvCxnSpPr>
          <p:cNvPr id="83" name="Google Shape;83;p4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4"/>
          <p:cNvSpPr/>
          <p:nvPr/>
        </p:nvSpPr>
        <p:spPr>
          <a:xfrm>
            <a:off x="666750" y="2000250"/>
            <a:ext cx="1952625" cy="2381250"/>
          </a:xfrm>
          <a:prstGeom prst="roundRect">
            <a:avLst>
              <a:gd fmla="val 5854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838200" y="2171700"/>
            <a:ext cx="571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775E6"/>
                </a:solidFill>
              </a:rPr>
              <a:t>01</a:t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838200" y="2857500"/>
            <a:ext cx="1619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220"/>
                </a:solidFill>
              </a:rPr>
              <a:t>Self-service</a:t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2905125" y="2000250"/>
            <a:ext cx="1952625" cy="2381250"/>
          </a:xfrm>
          <a:prstGeom prst="roundRect">
            <a:avLst>
              <a:gd fmla="val 5854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3076575" y="2171700"/>
            <a:ext cx="571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775E6"/>
                </a:solidFill>
              </a:rPr>
              <a:t>02</a:t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076575" y="2857500"/>
            <a:ext cx="1619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220"/>
                </a:solidFill>
              </a:rPr>
              <a:t>Ağ üzerinden erişim</a:t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5143500" y="2000250"/>
            <a:ext cx="1952625" cy="2381250"/>
          </a:xfrm>
          <a:prstGeom prst="roundRect">
            <a:avLst>
              <a:gd fmla="val 5854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5314950" y="2171700"/>
            <a:ext cx="571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775E6"/>
                </a:solidFill>
              </a:rPr>
              <a:t>03</a:t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5314950" y="2857500"/>
            <a:ext cx="1619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220"/>
                </a:solidFill>
              </a:rPr>
              <a:t>Kaynak havuzu</a:t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7381875" y="2000250"/>
            <a:ext cx="1952625" cy="2381250"/>
          </a:xfrm>
          <a:prstGeom prst="roundRect">
            <a:avLst>
              <a:gd fmla="val 5854" name="adj"/>
            </a:avLst>
          </a:prstGeom>
          <a:solidFill>
            <a:srgbClr val="DF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7553325" y="2171700"/>
            <a:ext cx="571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775E6"/>
                </a:solidFill>
              </a:rPr>
              <a:t>04</a:t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7553325" y="2857500"/>
            <a:ext cx="1619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220"/>
                </a:solidFill>
              </a:rPr>
              <a:t>Hızlı esneklik</a:t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9620250" y="2000250"/>
            <a:ext cx="1952625" cy="2381250"/>
          </a:xfrm>
          <a:prstGeom prst="roundRect">
            <a:avLst>
              <a:gd fmla="val 5854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9791700" y="2171700"/>
            <a:ext cx="571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775E6"/>
                </a:solidFill>
              </a:rPr>
              <a:t>05</a:t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9791700" y="2857500"/>
            <a:ext cx="1619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220"/>
                </a:solidFill>
              </a:rPr>
              <a:t>Ölçümlü hizmet</a:t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762000" y="5143500"/>
            <a:ext cx="10477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02A43"/>
                </a:solidFill>
              </a:rPr>
              <a:t>Sanal makine sunmak tek başına bulut değildir; hizmet yaşam döngüsü otomatik olmalıdır.</a:t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BULUT BİLİŞİM</a:t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Bulutun asıl kazancı: daha hızlı ve tutarlı teslimat</a:t>
            </a:r>
            <a:endParaRPr/>
          </a:p>
        </p:txBody>
      </p:sp>
      <p:cxnSp>
        <p:nvCxnSpPr>
          <p:cNvPr id="108" name="Google Shape;108;p5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5"/>
          <p:cNvSpPr/>
          <p:nvPr/>
        </p:nvSpPr>
        <p:spPr>
          <a:xfrm>
            <a:off x="781050" y="173355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1066800" y="1638300"/>
            <a:ext cx="6096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B1220"/>
                </a:solidFill>
              </a:rPr>
              <a:t>Kaynak sağlama süresi haftalardan dakikalara iner</a:t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781050" y="240030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1066800" y="2305050"/>
            <a:ext cx="6096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B1220"/>
                </a:solidFill>
              </a:rPr>
              <a:t>Standart şablonlar hata ve konfigürasyon farkını azaltır</a:t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781050" y="306705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1066800" y="2971800"/>
            <a:ext cx="6096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B1220"/>
                </a:solidFill>
              </a:rPr>
              <a:t>Kapasite talebe göre büyür ve küçülür</a:t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781050" y="373380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1066800" y="3638550"/>
            <a:ext cx="6096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B1220"/>
                </a:solidFill>
              </a:rPr>
              <a:t>Maliyet tüketim, sahiplik ve operasyon boyutunda görünür olur</a:t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781050" y="440055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1066800" y="4305300"/>
            <a:ext cx="6096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B1220"/>
                </a:solidFill>
              </a:rPr>
              <a:t>Ekipler API ve otomasyon üzerinden çalışır</a:t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7524750" y="1952625"/>
            <a:ext cx="3333750" cy="2857500"/>
          </a:xfrm>
          <a:prstGeom prst="roundRect">
            <a:avLst>
              <a:gd fmla="val 4000" name="adj"/>
            </a:avLst>
          </a:prstGeom>
          <a:solidFill>
            <a:srgbClr val="E8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7905750" y="2305050"/>
            <a:ext cx="2571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775E6"/>
                </a:solidFill>
              </a:rPr>
              <a:t>Bulut hedefi</a:t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7810500" y="3000375"/>
            <a:ext cx="2762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02A43"/>
                </a:solidFill>
              </a:rPr>
              <a:t>Daha çok sunucu değil,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02A43"/>
                </a:solidFill>
              </a:rPr>
              <a:t>daha kısa teslim süresi</a:t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BULUT MODELLERİ</a:t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Dağıtım modeli, kontrol ile ölçek arasındaki tercihtir</a:t>
            </a:r>
            <a:endParaRPr/>
          </a:p>
        </p:txBody>
      </p:sp>
      <p:cxnSp>
        <p:nvCxnSpPr>
          <p:cNvPr id="130" name="Google Shape;130;p6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6"/>
          <p:cNvSpPr/>
          <p:nvPr/>
        </p:nvSpPr>
        <p:spPr>
          <a:xfrm>
            <a:off x="590550" y="1809750"/>
            <a:ext cx="2609850" cy="3238500"/>
          </a:xfrm>
          <a:prstGeom prst="roundRect">
            <a:avLst>
              <a:gd fmla="val 4380" name="adj"/>
            </a:avLst>
          </a:prstGeom>
          <a:solidFill>
            <a:srgbClr val="F5F7FA"/>
          </a:solidFill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590550" y="1809750"/>
            <a:ext cx="2609850" cy="152400"/>
          </a:xfrm>
          <a:prstGeom prst="roundRect">
            <a:avLst>
              <a:gd fmla="val 50000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781050" y="2209800"/>
            <a:ext cx="2190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B1220"/>
                </a:solidFill>
              </a:rPr>
              <a:t>Public cloud</a:t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781050" y="2952750"/>
            <a:ext cx="21907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Hızlı başlangıç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Geniş servis kataloğu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Değişken maliyet</a:t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3448050" y="1809750"/>
            <a:ext cx="2609850" cy="3238500"/>
          </a:xfrm>
          <a:prstGeom prst="roundRect">
            <a:avLst>
              <a:gd fmla="val 4380" name="adj"/>
            </a:avLst>
          </a:prstGeom>
          <a:solidFill>
            <a:srgbClr val="F5F7FA"/>
          </a:solidFill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3448050" y="1809750"/>
            <a:ext cx="2609850" cy="152400"/>
          </a:xfrm>
          <a:prstGeom prst="roundRect">
            <a:avLst>
              <a:gd fmla="val 50000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3638550" y="2209800"/>
            <a:ext cx="2190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B1220"/>
                </a:solidFill>
              </a:rPr>
              <a:t>Private cloud</a:t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3638550" y="2952750"/>
            <a:ext cx="21907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Yüksek kontrol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Veri egemenliği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Özel entegrasyon</a:t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6305550" y="1809750"/>
            <a:ext cx="2609850" cy="3238500"/>
          </a:xfrm>
          <a:prstGeom prst="roundRect">
            <a:avLst>
              <a:gd fmla="val 4380" name="adj"/>
            </a:avLst>
          </a:prstGeom>
          <a:solidFill>
            <a:srgbClr val="F5F7FA"/>
          </a:solidFill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6305550" y="1809750"/>
            <a:ext cx="2609850" cy="152400"/>
          </a:xfrm>
          <a:prstGeom prst="roundRect">
            <a:avLst>
              <a:gd fmla="val 50000" name="adj"/>
            </a:avLst>
          </a:prstGeom>
          <a:solidFill>
            <a:srgbClr val="28A8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6496050" y="2209800"/>
            <a:ext cx="2190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B1220"/>
                </a:solidFill>
              </a:rPr>
              <a:t>Hybrid cloud</a:t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6496050" y="2952750"/>
            <a:ext cx="21907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İki ortam arasında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iş yükü ve veri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politikası</a:t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9163050" y="1809750"/>
            <a:ext cx="2609850" cy="3238500"/>
          </a:xfrm>
          <a:prstGeom prst="roundRect">
            <a:avLst>
              <a:gd fmla="val 4380" name="adj"/>
            </a:avLst>
          </a:prstGeom>
          <a:solidFill>
            <a:srgbClr val="F5F7FA"/>
          </a:solidFill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9163050" y="1809750"/>
            <a:ext cx="2609850" cy="152400"/>
          </a:xfrm>
          <a:prstGeom prst="roundRect">
            <a:avLst>
              <a:gd fmla="val 50000" name="adj"/>
            </a:avLst>
          </a:prstGeom>
          <a:solidFill>
            <a:srgbClr val="F59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9353550" y="2209800"/>
            <a:ext cx="2190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B1220"/>
                </a:solidFill>
              </a:rPr>
              <a:t>Multi-cloud</a:t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9353550" y="2952750"/>
            <a:ext cx="21907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Birden fazla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sağlayıcıyı bilinçli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kullanma</a:t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BULUT BİLİŞİM</a:t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Public cloud: hız ve servis çeşitliliği satın alınır</a:t>
            </a:r>
            <a:endParaRPr/>
          </a:p>
        </p:txBody>
      </p:sp>
      <p:cxnSp>
        <p:nvCxnSpPr>
          <p:cNvPr id="155" name="Google Shape;155;p7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7"/>
          <p:cNvSpPr/>
          <p:nvPr/>
        </p:nvSpPr>
        <p:spPr>
          <a:xfrm>
            <a:off x="762000" y="180975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1047750" y="1714500"/>
            <a:ext cx="590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B1220"/>
                </a:solidFill>
              </a:rPr>
              <a:t>Donanım yatırımı ve veri merkezi işletimi sağlayıcıdadır</a:t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762000" y="253365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1047750" y="2438400"/>
            <a:ext cx="590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B1220"/>
                </a:solidFill>
              </a:rPr>
              <a:t>Kapasiteye küresel ve hızlı erişim sağlanır</a:t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762000" y="325755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1047750" y="3162300"/>
            <a:ext cx="590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B1220"/>
                </a:solidFill>
              </a:rPr>
              <a:t>Yönetilen veri tabanı, AI, mesajlaşma gibi servisler hazırdır</a:t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762000" y="398145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1047750" y="3886200"/>
            <a:ext cx="590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B1220"/>
                </a:solidFill>
              </a:rPr>
              <a:t>Maliyet ve bağımlılık, mimari disiplin gerektirir</a:t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7524750" y="2000250"/>
            <a:ext cx="3238500" cy="2476500"/>
          </a:xfrm>
          <a:prstGeom prst="roundRect">
            <a:avLst>
              <a:gd fmla="val 4615" name="adj"/>
            </a:avLst>
          </a:prstGeom>
          <a:solidFill>
            <a:srgbClr val="E8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7810500" y="2266950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775E6"/>
                </a:solidFill>
              </a:rPr>
              <a:t>En uygun</a:t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7858125" y="2876550"/>
            <a:ext cx="2571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02A43"/>
                </a:solidFill>
              </a:rPr>
              <a:t>Hızlı büyüyen, değişken yükler ve yönetilen servisten yararlanan ekipler</a:t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BULUT BİLİŞİM</a:t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Private cloud: kontrol kazanılır, işletim sorumluluğu artar</a:t>
            </a:r>
            <a:endParaRPr/>
          </a:p>
        </p:txBody>
      </p:sp>
      <p:cxnSp>
        <p:nvCxnSpPr>
          <p:cNvPr id="175" name="Google Shape;175;p8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8"/>
          <p:cNvSpPr/>
          <p:nvPr/>
        </p:nvSpPr>
        <p:spPr>
          <a:xfrm>
            <a:off x="762000" y="171450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1047750" y="1619250"/>
            <a:ext cx="6381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Altyapı tek kuruma ayrılır; kurum içinde veya barındırma tesisinde olabilir</a:t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762000" y="249555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1047750" y="2400300"/>
            <a:ext cx="6381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Ağ, güvenlik, kapasite ve veri yerleşimi üzerinde ayrıntılı kontrol sağlar</a:t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762000" y="327660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1047750" y="3181350"/>
            <a:ext cx="6381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Donanım, platform, güncelleme ve 7/24 operasyon kurumun sorumluluğundadır</a:t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762000" y="405765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1047750" y="3962400"/>
            <a:ext cx="6381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Başarı için otomasyon ve ürün yaklaşımı şarttır</a:t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7762875" y="1952625"/>
            <a:ext cx="3048000" cy="2857500"/>
          </a:xfrm>
          <a:prstGeom prst="roundRect">
            <a:avLst>
              <a:gd fmla="val 4000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8096250" y="2495550"/>
            <a:ext cx="2381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FFFFFF"/>
                </a:solidFill>
              </a:rPr>
              <a:t>Private cloud 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FFFFFF"/>
                </a:solidFill>
              </a:rPr>
              <a:t>sadece sanallaştırma</a:t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8115300" y="3638550"/>
            <a:ext cx="23431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DCEBFA"/>
                </a:solidFill>
              </a:rPr>
              <a:t>Portal + API + otomasyon + ölçüm + yaşam döngüsü</a:t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08</a:t>
            </a:r>
            <a:endParaRPr/>
          </a:p>
        </p:txBody>
      </p:sp>
      <p:pic>
        <p:nvPicPr>
          <p:cNvPr id="188" name="Google Shape;188;p8"/>
          <p:cNvPicPr preferRelativeResize="0"/>
          <p:nvPr/>
        </p:nvPicPr>
        <p:blipFill rotWithShape="1">
          <a:blip r:embed="rId3">
            <a:alphaModFix/>
          </a:blip>
          <a:srcRect b="0" l="18644" r="18644" t="0"/>
          <a:stretch/>
        </p:blipFill>
        <p:spPr>
          <a:xfrm>
            <a:off x="7524750" y="1666875"/>
            <a:ext cx="3714750" cy="3333750"/>
          </a:xfrm>
          <a:prstGeom prst="roundRect">
            <a:avLst>
              <a:gd fmla="val 3429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BULUT BİLİŞİM</a:t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Hybrid cloud, iki ortamı “bağlamak”tan fazlasıdır</a:t>
            </a:r>
            <a:endParaRPr/>
          </a:p>
        </p:txBody>
      </p:sp>
      <p:cxnSp>
        <p:nvCxnSpPr>
          <p:cNvPr id="196" name="Google Shape;196;p9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9"/>
          <p:cNvSpPr/>
          <p:nvPr/>
        </p:nvSpPr>
        <p:spPr>
          <a:xfrm>
            <a:off x="952500" y="2381250"/>
            <a:ext cx="2571750" cy="514350"/>
          </a:xfrm>
          <a:prstGeom prst="roundRect">
            <a:avLst>
              <a:gd fmla="val 22222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1066800" y="2495550"/>
            <a:ext cx="2343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Private cloud</a:t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4810125" y="1762125"/>
            <a:ext cx="2571750" cy="514350"/>
          </a:xfrm>
          <a:prstGeom prst="roundRect">
            <a:avLst>
              <a:gd fmla="val 22222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4924425" y="1876425"/>
            <a:ext cx="2343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Ortak kimlik</a:t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8667750" y="2381250"/>
            <a:ext cx="2571750" cy="514350"/>
          </a:xfrm>
          <a:prstGeom prst="roundRect">
            <a:avLst>
              <a:gd fmla="val 22222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8782050" y="2495550"/>
            <a:ext cx="2343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Public cloud</a:t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4810125" y="2476500"/>
            <a:ext cx="2571750" cy="514350"/>
          </a:xfrm>
          <a:prstGeom prst="roundRect">
            <a:avLst>
              <a:gd fmla="val 22222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4924425" y="2590800"/>
            <a:ext cx="2343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220"/>
                </a:solidFill>
              </a:rPr>
              <a:t>Ağ bağlantısı</a:t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4810125" y="3190875"/>
            <a:ext cx="2571750" cy="514350"/>
          </a:xfrm>
          <a:prstGeom prst="roundRect">
            <a:avLst>
              <a:gd fmla="val 22222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4924425" y="3305175"/>
            <a:ext cx="2343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220"/>
                </a:solidFill>
              </a:rPr>
              <a:t>Politika + gözlemleme</a:t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4810125" y="3905250"/>
            <a:ext cx="2571750" cy="514350"/>
          </a:xfrm>
          <a:prstGeom prst="roundRect">
            <a:avLst>
              <a:gd fmla="val 22222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4924425" y="4019550"/>
            <a:ext cx="2343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220"/>
                </a:solidFill>
              </a:rPr>
              <a:t>Veri taşınabilirliği</a:t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1066800" y="5191125"/>
            <a:ext cx="1009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B1220"/>
                </a:solidFill>
              </a:rPr>
              <a:t>İş yükü yerleşimi; gecikme, mevzuat, maliyet ve servis ihtiyacına göre belirlenir.</a:t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HYBRID CLOUD</a:t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Hybrid cloud pratikte dört modelle kullanılır</a:t>
            </a:r>
            <a:endParaRPr/>
          </a:p>
        </p:txBody>
      </p:sp>
      <p:cxnSp>
        <p:nvCxnSpPr>
          <p:cNvPr id="218" name="Google Shape;218;p10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10"/>
          <p:cNvSpPr/>
          <p:nvPr/>
        </p:nvSpPr>
        <p:spPr>
          <a:xfrm>
            <a:off x="666750" y="1695450"/>
            <a:ext cx="5143500" cy="1447800"/>
          </a:xfrm>
          <a:prstGeom prst="roundRect">
            <a:avLst>
              <a:gd fmla="val 7895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838200" y="1866900"/>
            <a:ext cx="4000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775E6"/>
                </a:solidFill>
              </a:rPr>
              <a:t>01</a:t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1352550" y="1847850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220"/>
                </a:solidFill>
              </a:rPr>
              <a:t>Cloud bursting</a:t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1352550" y="2276475"/>
            <a:ext cx="40957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06D"/>
                </a:solidFill>
              </a:rPr>
              <a:t>Taban yük private ortamda; yoğunluk anında public cloud ölçeklenir.</a:t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6238875" y="1695450"/>
            <a:ext cx="5143500" cy="1447800"/>
          </a:xfrm>
          <a:prstGeom prst="roundRect">
            <a:avLst>
              <a:gd fmla="val 7895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6410325" y="1866900"/>
            <a:ext cx="4000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775E6"/>
                </a:solidFill>
              </a:rPr>
              <a:t>02</a:t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6924675" y="1847850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220"/>
                </a:solidFill>
              </a:rPr>
              <a:t>Felaket kurtarma</a:t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6924675" y="2276475"/>
            <a:ext cx="40957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06D"/>
                </a:solidFill>
              </a:rPr>
              <a:t>Üretim bir ortamda, yedek ve geri dönüş kapasitesi diğer ortamda tutulur.</a:t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666750" y="3486150"/>
            <a:ext cx="5143500" cy="1447800"/>
          </a:xfrm>
          <a:prstGeom prst="roundRect">
            <a:avLst>
              <a:gd fmla="val 7895" name="adj"/>
            </a:avLst>
          </a:prstGeom>
          <a:solidFill>
            <a:srgbClr val="E8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838200" y="3657600"/>
            <a:ext cx="4000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775E6"/>
                </a:solidFill>
              </a:rPr>
              <a:t>03</a:t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1352550" y="3638550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220"/>
                </a:solidFill>
              </a:rPr>
              <a:t>Veri yerleşimi</a:t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1352550" y="4067175"/>
            <a:ext cx="40957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06D"/>
                </a:solidFill>
              </a:rPr>
              <a:t>Hassas veri private kalır; analitik ve AI public servislerden yararlanır.</a:t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6238875" y="3486150"/>
            <a:ext cx="5143500" cy="1447800"/>
          </a:xfrm>
          <a:prstGeom prst="roundRect">
            <a:avLst>
              <a:gd fmla="val 7895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6410325" y="3657600"/>
            <a:ext cx="4000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775E6"/>
                </a:solidFill>
              </a:rPr>
              <a:t>04</a:t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6924675" y="3638550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220"/>
                </a:solidFill>
              </a:rPr>
              <a:t>Uygulama modernizasyonu</a:t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6924675" y="4067175"/>
            <a:ext cx="40957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06D"/>
                </a:solidFill>
              </a:rPr>
              <a:t>Legacy sistem private kalırken yeni API ve servisler public tarafta geliştirilir.</a:t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1047750" y="5238750"/>
            <a:ext cx="10096500" cy="495300"/>
          </a:xfrm>
          <a:prstGeom prst="roundRect">
            <a:avLst>
              <a:gd fmla="val 2307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1238250" y="5372100"/>
            <a:ext cx="9715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</a:rPr>
              <a:t>Ortak katmanlar: şifreli bağlantı • kimlik • DNS • güvenlik politikası • log/izleme • maliyet yönetimi</a:t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BULUT BİLİŞİM</a:t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Model seçimini dört soru belirler</a:t>
            </a:r>
            <a:endParaRPr/>
          </a:p>
        </p:txBody>
      </p:sp>
      <p:cxnSp>
        <p:nvCxnSpPr>
          <p:cNvPr id="245" name="Google Shape;245;p11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11"/>
          <p:cNvSpPr/>
          <p:nvPr/>
        </p:nvSpPr>
        <p:spPr>
          <a:xfrm>
            <a:off x="685800" y="2095500"/>
            <a:ext cx="2476500" cy="2333625"/>
          </a:xfrm>
          <a:prstGeom prst="roundRect">
            <a:avLst>
              <a:gd fmla="val 4898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876300" y="2333625"/>
            <a:ext cx="2095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775E6"/>
                </a:solidFill>
              </a:rPr>
              <a:t>Veri</a:t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876300" y="3095625"/>
            <a:ext cx="2095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B1220"/>
                </a:solidFill>
              </a:rPr>
              <a:t>Nerede tutulmalı?</a:t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3486150" y="2095500"/>
            <a:ext cx="2476500" cy="2333625"/>
          </a:xfrm>
          <a:prstGeom prst="roundRect">
            <a:avLst>
              <a:gd fmla="val 4898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3676650" y="2333625"/>
            <a:ext cx="2095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775E6"/>
                </a:solidFill>
              </a:rPr>
              <a:t>Gecikme</a:t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3676650" y="3095625"/>
            <a:ext cx="2095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B1220"/>
                </a:solidFill>
              </a:rPr>
              <a:t>Kullanıcıya ne kadar yakın?</a:t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6286500" y="2095500"/>
            <a:ext cx="2476500" cy="2333625"/>
          </a:xfrm>
          <a:prstGeom prst="roundRect">
            <a:avLst>
              <a:gd fmla="val 4898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6477000" y="2333625"/>
            <a:ext cx="2095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775E6"/>
                </a:solidFill>
              </a:rPr>
              <a:t>Servis</a:t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6477000" y="3095625"/>
            <a:ext cx="2095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B1220"/>
                </a:solidFill>
              </a:rPr>
              <a:t>Yönetilen hangi yetenek gerekli?</a:t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9086850" y="2095500"/>
            <a:ext cx="2476500" cy="2333625"/>
          </a:xfrm>
          <a:prstGeom prst="roundRect">
            <a:avLst>
              <a:gd fmla="val 4898" name="adj"/>
            </a:avLst>
          </a:prstGeom>
          <a:solidFill>
            <a:srgbClr val="E8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9277350" y="2333625"/>
            <a:ext cx="2095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775E6"/>
                </a:solidFill>
              </a:rPr>
              <a:t>Operasyon</a:t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9277350" y="3095625"/>
            <a:ext cx="2095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B1220"/>
                </a:solidFill>
              </a:rPr>
              <a:t>7/24 kim işletecek?</a:t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857250" y="5095875"/>
            <a:ext cx="10477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02A43"/>
                </a:solidFill>
              </a:rPr>
              <a:t>Tek bir “en iyi bulut” yoktur; iş yüküne uygun yerleşim vardır.</a:t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SERVİS MODELLERİ</a:t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Servis modeli, kimin hangi katmanı yönettiğini söyler</a:t>
            </a:r>
            <a:endParaRPr/>
          </a:p>
        </p:txBody>
      </p:sp>
      <p:cxnSp>
        <p:nvCxnSpPr>
          <p:cNvPr id="267" name="Google Shape;267;p12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12"/>
          <p:cNvSpPr/>
          <p:nvPr/>
        </p:nvSpPr>
        <p:spPr>
          <a:xfrm>
            <a:off x="857250" y="1666875"/>
            <a:ext cx="2381250" cy="342900"/>
          </a:xfrm>
          <a:prstGeom prst="roundRect">
            <a:avLst>
              <a:gd fmla="val 33333" name="adj"/>
            </a:avLst>
          </a:prstGeom>
          <a:solidFill>
            <a:srgbClr val="E8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1000125" y="1724025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220"/>
                </a:solidFill>
              </a:rPr>
              <a:t>Uygulama</a:t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857250" y="2095500"/>
            <a:ext cx="2381250" cy="342900"/>
          </a:xfrm>
          <a:prstGeom prst="roundRect">
            <a:avLst>
              <a:gd fmla="val 33333" name="adj"/>
            </a:avLst>
          </a:prstGeom>
          <a:solidFill>
            <a:srgbClr val="E8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1000125" y="215265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0B1220"/>
                </a:solidFill>
              </a:rPr>
              <a:t>Veri</a:t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857250" y="2524125"/>
            <a:ext cx="2381250" cy="342900"/>
          </a:xfrm>
          <a:prstGeom prst="roundRect">
            <a:avLst>
              <a:gd fmla="val 33333" name="adj"/>
            </a:avLst>
          </a:prstGeom>
          <a:solidFill>
            <a:srgbClr val="E8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1000125" y="2581275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0B1220"/>
                </a:solidFill>
              </a:rPr>
              <a:t>Runtime</a:t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857250" y="2952750"/>
            <a:ext cx="2381250" cy="342900"/>
          </a:xfrm>
          <a:prstGeom prst="roundRect">
            <a:avLst>
              <a:gd fmla="val 33333" name="adj"/>
            </a:avLst>
          </a:prstGeom>
          <a:solidFill>
            <a:srgbClr val="E8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1000125" y="30099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0B1220"/>
                </a:solidFill>
              </a:rPr>
              <a:t>Middleware</a:t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857250" y="3381375"/>
            <a:ext cx="2381250" cy="342900"/>
          </a:xfrm>
          <a:prstGeom prst="roundRect">
            <a:avLst>
              <a:gd fmla="val 33333" name="adj"/>
            </a:avLst>
          </a:prstGeom>
          <a:solidFill>
            <a:srgbClr val="E8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1000125" y="3438525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0B1220"/>
                </a:solidFill>
              </a:rPr>
              <a:t>İşletim sistemi</a:t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857250" y="3810000"/>
            <a:ext cx="2381250" cy="342900"/>
          </a:xfrm>
          <a:prstGeom prst="roundRect">
            <a:avLst>
              <a:gd fmla="val 33333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1000125" y="386715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0B1220"/>
                </a:solidFill>
              </a:rPr>
              <a:t>Sanallaştırma</a:t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857250" y="4238625"/>
            <a:ext cx="2381250" cy="342900"/>
          </a:xfrm>
          <a:prstGeom prst="roundRect">
            <a:avLst>
              <a:gd fmla="val 33333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1000125" y="4295775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0B1220"/>
                </a:solidFill>
              </a:rPr>
              <a:t>Sunucu</a:t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857250" y="4667250"/>
            <a:ext cx="2381250" cy="342900"/>
          </a:xfrm>
          <a:prstGeom prst="roundRect">
            <a:avLst>
              <a:gd fmla="val 33333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1000125" y="47244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0B1220"/>
                </a:solidFill>
              </a:rPr>
              <a:t>Depolama</a:t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857250" y="5095875"/>
            <a:ext cx="2381250" cy="342900"/>
          </a:xfrm>
          <a:prstGeom prst="roundRect">
            <a:avLst>
              <a:gd fmla="val 33333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1000125" y="5153025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0B1220"/>
                </a:solidFill>
              </a:rPr>
              <a:t>Ağ</a:t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3714750" y="1666875"/>
            <a:ext cx="1524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775E6"/>
                </a:solidFill>
              </a:rPr>
              <a:t>IaaS</a:t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3714750" y="2143125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E7EC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3790950" y="2200275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2606D"/>
                </a:solidFill>
              </a:rPr>
              <a:t>Müşteri</a:t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3714750" y="2514600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E7EC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3790950" y="2571750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2606D"/>
                </a:solidFill>
              </a:rPr>
              <a:t>Müşteri</a:t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3714750" y="2886075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E7EC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3790950" y="2943225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2606D"/>
                </a:solidFill>
              </a:rPr>
              <a:t>Müşteri</a:t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3714750" y="3257550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E7EC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3790950" y="3314700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2606D"/>
                </a:solidFill>
              </a:rPr>
              <a:t>Müşteri</a:t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3714750" y="3629025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E7EC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3790950" y="3686175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2606D"/>
                </a:solidFill>
              </a:rPr>
              <a:t>Müşteri</a:t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3714750" y="4000500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3790950" y="4057650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Sağlayıcı</a:t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3714750" y="4371975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3790950" y="4429125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Sağlayıcı</a:t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3714750" y="4743450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3790950" y="4800600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Sağlayıcı</a:t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3714750" y="5114925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3790950" y="5172075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Sağlayıcı</a:t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5715000" y="1666875"/>
            <a:ext cx="1524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775E6"/>
                </a:solidFill>
              </a:rPr>
              <a:t>PaaS</a:t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5715000" y="2143125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E7EC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5791200" y="2200275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2606D"/>
                </a:solidFill>
              </a:rPr>
              <a:t>Müşteri</a:t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5715000" y="2514600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E7EC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5791200" y="2571750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2606D"/>
                </a:solidFill>
              </a:rPr>
              <a:t>Müşteri</a:t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5715000" y="2886075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5791200" y="2943225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Sağlayıcı</a:t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5715000" y="3257550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5791200" y="3314700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Sağlayıcı</a:t>
            </a:r>
            <a:endParaRPr/>
          </a:p>
        </p:txBody>
      </p:sp>
      <p:sp>
        <p:nvSpPr>
          <p:cNvPr id="314" name="Google Shape;314;p12"/>
          <p:cNvSpPr/>
          <p:nvPr/>
        </p:nvSpPr>
        <p:spPr>
          <a:xfrm>
            <a:off x="5715000" y="3629025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5791200" y="3686175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Sağlayıcı</a:t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5715000" y="4000500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5791200" y="4057650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Sağlayıcı</a:t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5715000" y="4371975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5791200" y="4429125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Sağlayıcı</a:t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5715000" y="4743450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5791200" y="4800600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Sağlayıcı</a:t>
            </a: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5715000" y="5114925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5791200" y="5172075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Sağlayıcı</a:t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7715250" y="1666875"/>
            <a:ext cx="1524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775E6"/>
                </a:solidFill>
              </a:rPr>
              <a:t>SaaS</a:t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7715250" y="2143125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7791450" y="2200275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Sağlayıcı</a:t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7715250" y="2514600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7791450" y="2571750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Sağlayıcı</a:t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7715250" y="2886075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7791450" y="2943225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Sağlayıcı</a:t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7715250" y="3257550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7791450" y="3314700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Sağlayıcı</a:t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7715250" y="3629025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7791450" y="3686175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Sağlayıcı</a:t>
            </a: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7715250" y="4000500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7791450" y="4057650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Sağlayıcı</a:t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7715250" y="4371975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7791450" y="4429125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Sağlayıcı</a:t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7715250" y="4743450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7791450" y="4800600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Sağlayıcı</a:t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7715250" y="5114925"/>
            <a:ext cx="1524000" cy="295275"/>
          </a:xfrm>
          <a:prstGeom prst="roundRect">
            <a:avLst>
              <a:gd fmla="val 38710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7791450" y="5172075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Sağlayıcı</a:t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3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BULUT BİLİŞİM</a:t>
            </a: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IaaS: altyapı API ile tüketilir</a:t>
            </a:r>
            <a:endParaRPr/>
          </a:p>
        </p:txBody>
      </p:sp>
      <p:cxnSp>
        <p:nvCxnSpPr>
          <p:cNvPr id="351" name="Google Shape;351;p13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13"/>
          <p:cNvSpPr/>
          <p:nvPr/>
        </p:nvSpPr>
        <p:spPr>
          <a:xfrm>
            <a:off x="762000" y="180975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1047750" y="1714500"/>
            <a:ext cx="619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B1220"/>
                </a:solidFill>
              </a:rPr>
              <a:t>Sanal makine, ağ, disk, imaj ve güvenlik grubu sağlanır</a:t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762000" y="255270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1047750" y="2457450"/>
            <a:ext cx="619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B1220"/>
                </a:solidFill>
              </a:rPr>
              <a:t>Müşteri işletim sistemi ve üzerindeki yazılımı yönetir</a:t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762000" y="329565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1047750" y="3200400"/>
            <a:ext cx="619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B1220"/>
                </a:solidFill>
              </a:rPr>
              <a:t>Eski uygulamalar ve ayrıntılı kontrol gereken iş yükleri için uygundur</a:t>
            </a: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762000" y="403860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1047750" y="3943350"/>
            <a:ext cx="619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B1220"/>
                </a:solidFill>
              </a:rPr>
              <a:t>OpenStack’in temel sunduğu model IaaS’tır</a:t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7715250" y="1952625"/>
            <a:ext cx="1428750" cy="514350"/>
          </a:xfrm>
          <a:prstGeom prst="roundRect">
            <a:avLst>
              <a:gd fmla="val 22222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7829550" y="2066925"/>
            <a:ext cx="1200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Compute</a:t>
            </a: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9334500" y="1952625"/>
            <a:ext cx="1428750" cy="514350"/>
          </a:xfrm>
          <a:prstGeom prst="roundRect">
            <a:avLst>
              <a:gd fmla="val 22222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9448800" y="2066925"/>
            <a:ext cx="1200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Network</a:t>
            </a: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7715250" y="2714625"/>
            <a:ext cx="1428750" cy="514350"/>
          </a:xfrm>
          <a:prstGeom prst="roundRect">
            <a:avLst>
              <a:gd fmla="val 22222" name="adj"/>
            </a:avLst>
          </a:prstGeom>
          <a:solidFill>
            <a:srgbClr val="28A8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7829550" y="2828925"/>
            <a:ext cx="1200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Storage</a:t>
            </a: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9334500" y="2714625"/>
            <a:ext cx="1428750" cy="514350"/>
          </a:xfrm>
          <a:prstGeom prst="roundRect">
            <a:avLst>
              <a:gd fmla="val 22222" name="adj"/>
            </a:avLst>
          </a:prstGeom>
          <a:solidFill>
            <a:srgbClr val="F59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9448800" y="2828925"/>
            <a:ext cx="1200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Identity</a:t>
            </a: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7715250" y="3667125"/>
            <a:ext cx="3048000" cy="514350"/>
          </a:xfrm>
          <a:prstGeom prst="roundRect">
            <a:avLst>
              <a:gd fmla="val 22222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3"/>
          <p:cNvSpPr/>
          <p:nvPr/>
        </p:nvSpPr>
        <p:spPr>
          <a:xfrm>
            <a:off x="7829550" y="3781425"/>
            <a:ext cx="2819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220"/>
                </a:solidFill>
              </a:rPr>
              <a:t>API / Portal</a:t>
            </a:r>
            <a:endParaRPr/>
          </a:p>
        </p:txBody>
      </p:sp>
      <p:sp>
        <p:nvSpPr>
          <p:cNvPr id="370" name="Google Shape;370;p13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4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BULUT BİLİŞİM</a:t>
            </a:r>
            <a:endParaRPr/>
          </a:p>
        </p:txBody>
      </p:sp>
      <p:sp>
        <p:nvSpPr>
          <p:cNvPr id="377" name="Google Shape;377;p14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PaaS: ekipler altyapı yerine uygulamaya odaklanır</a:t>
            </a:r>
            <a:endParaRPr/>
          </a:p>
        </p:txBody>
      </p:sp>
      <p:cxnSp>
        <p:nvCxnSpPr>
          <p:cNvPr id="378" name="Google Shape;378;p14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p14"/>
          <p:cNvSpPr/>
          <p:nvPr/>
        </p:nvSpPr>
        <p:spPr>
          <a:xfrm>
            <a:off x="762000" y="2000250"/>
            <a:ext cx="171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0B1220"/>
                </a:solidFill>
              </a:rPr>
              <a:t>Geliştirici</a:t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762000" y="2647950"/>
            <a:ext cx="2381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52606D"/>
                </a:solidFill>
              </a:rPr>
              <a:t>Kod + yapılandırma</a:t>
            </a:r>
            <a:endParaRPr/>
          </a:p>
        </p:txBody>
      </p:sp>
      <p:sp>
        <p:nvSpPr>
          <p:cNvPr id="381" name="Google Shape;381;p14"/>
          <p:cNvSpPr/>
          <p:nvPr/>
        </p:nvSpPr>
        <p:spPr>
          <a:xfrm>
            <a:off x="3476625" y="2571750"/>
            <a:ext cx="571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775E6"/>
                </a:solidFill>
              </a:rPr>
              <a:t>→</a:t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4238625" y="1762125"/>
            <a:ext cx="6286500" cy="2857500"/>
          </a:xfrm>
          <a:prstGeom prst="roundRect">
            <a:avLst>
              <a:gd fmla="val 4000" name="adj"/>
            </a:avLst>
          </a:prstGeom>
          <a:solidFill>
            <a:srgbClr val="E8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4"/>
          <p:cNvSpPr/>
          <p:nvPr/>
        </p:nvSpPr>
        <p:spPr>
          <a:xfrm>
            <a:off x="4619625" y="2047875"/>
            <a:ext cx="5524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2775E6"/>
                </a:solidFill>
              </a:rPr>
              <a:t>Platform katmanı</a:t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4667250" y="2857500"/>
            <a:ext cx="952500" cy="514350"/>
          </a:xfrm>
          <a:prstGeom prst="roundRect">
            <a:avLst>
              <a:gd fmla="val 22222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4"/>
          <p:cNvSpPr/>
          <p:nvPr/>
        </p:nvSpPr>
        <p:spPr>
          <a:xfrm>
            <a:off x="4781550" y="2971800"/>
            <a:ext cx="7239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Build</a:t>
            </a:r>
            <a:endParaRPr/>
          </a:p>
        </p:txBody>
      </p:sp>
      <p:sp>
        <p:nvSpPr>
          <p:cNvPr id="386" name="Google Shape;386;p14"/>
          <p:cNvSpPr/>
          <p:nvPr/>
        </p:nvSpPr>
        <p:spPr>
          <a:xfrm>
            <a:off x="5762625" y="2857500"/>
            <a:ext cx="952500" cy="514350"/>
          </a:xfrm>
          <a:prstGeom prst="roundRect">
            <a:avLst>
              <a:gd fmla="val 22222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4"/>
          <p:cNvSpPr/>
          <p:nvPr/>
        </p:nvSpPr>
        <p:spPr>
          <a:xfrm>
            <a:off x="5876925" y="2971800"/>
            <a:ext cx="7239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Deploy</a:t>
            </a:r>
            <a:endParaRPr/>
          </a:p>
        </p:txBody>
      </p:sp>
      <p:sp>
        <p:nvSpPr>
          <p:cNvPr id="388" name="Google Shape;388;p14"/>
          <p:cNvSpPr/>
          <p:nvPr/>
        </p:nvSpPr>
        <p:spPr>
          <a:xfrm>
            <a:off x="6858000" y="2857500"/>
            <a:ext cx="952500" cy="514350"/>
          </a:xfrm>
          <a:prstGeom prst="roundRect">
            <a:avLst>
              <a:gd fmla="val 22222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4"/>
          <p:cNvSpPr/>
          <p:nvPr/>
        </p:nvSpPr>
        <p:spPr>
          <a:xfrm>
            <a:off x="6972300" y="2971800"/>
            <a:ext cx="7239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Runtime</a:t>
            </a:r>
            <a:endParaRPr/>
          </a:p>
        </p:txBody>
      </p:sp>
      <p:sp>
        <p:nvSpPr>
          <p:cNvPr id="390" name="Google Shape;390;p14"/>
          <p:cNvSpPr/>
          <p:nvPr/>
        </p:nvSpPr>
        <p:spPr>
          <a:xfrm>
            <a:off x="7953375" y="2857500"/>
            <a:ext cx="952500" cy="514350"/>
          </a:xfrm>
          <a:prstGeom prst="roundRect">
            <a:avLst>
              <a:gd fmla="val 22222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4"/>
          <p:cNvSpPr/>
          <p:nvPr/>
        </p:nvSpPr>
        <p:spPr>
          <a:xfrm>
            <a:off x="8067675" y="2971800"/>
            <a:ext cx="7239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Autoscale</a:t>
            </a: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9048750" y="2857500"/>
            <a:ext cx="952500" cy="514350"/>
          </a:xfrm>
          <a:prstGeom prst="roundRect">
            <a:avLst>
              <a:gd fmla="val 22222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4"/>
          <p:cNvSpPr/>
          <p:nvPr/>
        </p:nvSpPr>
        <p:spPr>
          <a:xfrm>
            <a:off x="9163050" y="2971800"/>
            <a:ext cx="7239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Observability</a:t>
            </a: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2190750" y="5191125"/>
            <a:ext cx="7810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220"/>
                </a:solidFill>
              </a:rPr>
              <a:t>Örnek yaklaşım: Kubernetes + CI/CD + managed runtime</a:t>
            </a:r>
            <a:endParaRPr/>
          </a:p>
        </p:txBody>
      </p:sp>
      <p:sp>
        <p:nvSpPr>
          <p:cNvPr id="395" name="Google Shape;395;p14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5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BULUT BİLİŞİM</a:t>
            </a:r>
            <a:endParaRPr/>
          </a:p>
        </p:txBody>
      </p:sp>
      <p:sp>
        <p:nvSpPr>
          <p:cNvPr id="402" name="Google Shape;402;p15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SaaS: uygulama doğrudan hizmet olarak tüketilir</a:t>
            </a:r>
            <a:endParaRPr/>
          </a:p>
        </p:txBody>
      </p:sp>
      <p:cxnSp>
        <p:nvCxnSpPr>
          <p:cNvPr id="403" name="Google Shape;403;p15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" name="Google Shape;404;p15"/>
          <p:cNvSpPr/>
          <p:nvPr/>
        </p:nvSpPr>
        <p:spPr>
          <a:xfrm>
            <a:off x="819150" y="1952625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1104900" y="1857375"/>
            <a:ext cx="5905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0B1220"/>
                </a:solidFill>
              </a:rPr>
              <a:t>Kullanıcı uygulamaya web veya istemci üzerinden erişir</a:t>
            </a: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819150" y="2828925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5"/>
          <p:cNvSpPr/>
          <p:nvPr/>
        </p:nvSpPr>
        <p:spPr>
          <a:xfrm>
            <a:off x="1104900" y="2733675"/>
            <a:ext cx="5905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0B1220"/>
                </a:solidFill>
              </a:rPr>
              <a:t>Altyapıdan uygulama güncellemesine kadar sağlayıcı yönetir</a:t>
            </a:r>
            <a:endParaRPr/>
          </a:p>
        </p:txBody>
      </p:sp>
      <p:sp>
        <p:nvSpPr>
          <p:cNvPr id="408" name="Google Shape;408;p15"/>
          <p:cNvSpPr/>
          <p:nvPr/>
        </p:nvSpPr>
        <p:spPr>
          <a:xfrm>
            <a:off x="819150" y="3705225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1104900" y="3609975"/>
            <a:ext cx="5905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0B1220"/>
                </a:solidFill>
              </a:rPr>
              <a:t>En hızlı tüketim modelidir; özelleştirme alanı daha sınırlıdır</a:t>
            </a: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7858125" y="1905000"/>
            <a:ext cx="2857500" cy="2857500"/>
          </a:xfrm>
          <a:prstGeom prst="roundRect">
            <a:avLst>
              <a:gd fmla="val 4000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5"/>
          <p:cNvSpPr/>
          <p:nvPr/>
        </p:nvSpPr>
        <p:spPr>
          <a:xfrm>
            <a:off x="8096250" y="2238375"/>
            <a:ext cx="2381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63CBE8"/>
                </a:solidFill>
              </a:rPr>
              <a:t>Kullanıcı için</a:t>
            </a:r>
            <a:endParaRPr/>
          </a:p>
        </p:txBody>
      </p:sp>
      <p:sp>
        <p:nvSpPr>
          <p:cNvPr id="412" name="Google Shape;412;p15"/>
          <p:cNvSpPr/>
          <p:nvPr/>
        </p:nvSpPr>
        <p:spPr>
          <a:xfrm>
            <a:off x="8172450" y="2857500"/>
            <a:ext cx="22383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</a:rPr>
              <a:t>Kurulum yok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</a:rPr>
              <a:t>Sürüm yönetimi yok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</a:rPr>
              <a:t>Altyapı yönetimi yok</a:t>
            </a: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6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BULUT BİLİŞİM</a:t>
            </a:r>
            <a:endParaRPr/>
          </a:p>
        </p:txBody>
      </p:sp>
      <p:sp>
        <p:nvSpPr>
          <p:cNvPr id="420" name="Google Shape;420;p16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Modern katalog, üç modelin ötesine genişler</a:t>
            </a:r>
            <a:endParaRPr/>
          </a:p>
        </p:txBody>
      </p:sp>
      <p:cxnSp>
        <p:nvCxnSpPr>
          <p:cNvPr id="421" name="Google Shape;421;p16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p16"/>
          <p:cNvSpPr/>
          <p:nvPr/>
        </p:nvSpPr>
        <p:spPr>
          <a:xfrm>
            <a:off x="714375" y="1762125"/>
            <a:ext cx="3333750" cy="1285875"/>
          </a:xfrm>
          <a:prstGeom prst="roundRect">
            <a:avLst>
              <a:gd fmla="val 8889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904875" y="1952625"/>
            <a:ext cx="10001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775E6"/>
                </a:solidFill>
              </a:rPr>
              <a:t>CaaS</a:t>
            </a: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904875" y="2400300"/>
            <a:ext cx="285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Container platformu</a:t>
            </a:r>
            <a:endParaRPr/>
          </a:p>
        </p:txBody>
      </p:sp>
      <p:sp>
        <p:nvSpPr>
          <p:cNvPr id="425" name="Google Shape;425;p16"/>
          <p:cNvSpPr/>
          <p:nvPr/>
        </p:nvSpPr>
        <p:spPr>
          <a:xfrm>
            <a:off x="4429125" y="1762125"/>
            <a:ext cx="3333750" cy="1285875"/>
          </a:xfrm>
          <a:prstGeom prst="roundRect">
            <a:avLst>
              <a:gd fmla="val 8889" name="adj"/>
            </a:avLst>
          </a:prstGeom>
          <a:solidFill>
            <a:srgbClr val="E8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4619625" y="1952625"/>
            <a:ext cx="10001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775E6"/>
                </a:solidFill>
              </a:rPr>
              <a:t>DBaaS</a:t>
            </a:r>
            <a:endParaRPr/>
          </a:p>
        </p:txBody>
      </p:sp>
      <p:sp>
        <p:nvSpPr>
          <p:cNvPr id="427" name="Google Shape;427;p16"/>
          <p:cNvSpPr/>
          <p:nvPr/>
        </p:nvSpPr>
        <p:spPr>
          <a:xfrm>
            <a:off x="4619625" y="2400300"/>
            <a:ext cx="285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Yönetilen veri tabanı</a:t>
            </a:r>
            <a:endParaRPr/>
          </a:p>
        </p:txBody>
      </p:sp>
      <p:sp>
        <p:nvSpPr>
          <p:cNvPr id="428" name="Google Shape;428;p16"/>
          <p:cNvSpPr/>
          <p:nvPr/>
        </p:nvSpPr>
        <p:spPr>
          <a:xfrm>
            <a:off x="8143875" y="1762125"/>
            <a:ext cx="3333750" cy="1285875"/>
          </a:xfrm>
          <a:prstGeom prst="roundRect">
            <a:avLst>
              <a:gd fmla="val 8889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8334375" y="1952625"/>
            <a:ext cx="10001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775E6"/>
                </a:solidFill>
              </a:rPr>
              <a:t>FaaS</a:t>
            </a: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8334375" y="2400300"/>
            <a:ext cx="285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Olay tabanlı fonksiyon</a:t>
            </a:r>
            <a:endParaRPr/>
          </a:p>
        </p:txBody>
      </p:sp>
      <p:sp>
        <p:nvSpPr>
          <p:cNvPr id="431" name="Google Shape;431;p16"/>
          <p:cNvSpPr/>
          <p:nvPr/>
        </p:nvSpPr>
        <p:spPr>
          <a:xfrm>
            <a:off x="714375" y="3476625"/>
            <a:ext cx="3333750" cy="1285875"/>
          </a:xfrm>
          <a:prstGeom prst="roundRect">
            <a:avLst>
              <a:gd fmla="val 8889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6"/>
          <p:cNvSpPr/>
          <p:nvPr/>
        </p:nvSpPr>
        <p:spPr>
          <a:xfrm>
            <a:off x="904875" y="3667125"/>
            <a:ext cx="10001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775E6"/>
                </a:solidFill>
              </a:rPr>
              <a:t>AIaaS</a:t>
            </a:r>
            <a:endParaRPr/>
          </a:p>
        </p:txBody>
      </p:sp>
      <p:sp>
        <p:nvSpPr>
          <p:cNvPr id="433" name="Google Shape;433;p16"/>
          <p:cNvSpPr/>
          <p:nvPr/>
        </p:nvSpPr>
        <p:spPr>
          <a:xfrm>
            <a:off x="904875" y="4114800"/>
            <a:ext cx="285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Model ve hızlandırıcı</a:t>
            </a:r>
            <a:endParaRPr/>
          </a:p>
        </p:txBody>
      </p:sp>
      <p:sp>
        <p:nvSpPr>
          <p:cNvPr id="434" name="Google Shape;434;p16"/>
          <p:cNvSpPr/>
          <p:nvPr/>
        </p:nvSpPr>
        <p:spPr>
          <a:xfrm>
            <a:off x="4429125" y="3476625"/>
            <a:ext cx="3333750" cy="1285875"/>
          </a:xfrm>
          <a:prstGeom prst="roundRect">
            <a:avLst>
              <a:gd fmla="val 8889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6"/>
          <p:cNvSpPr/>
          <p:nvPr/>
        </p:nvSpPr>
        <p:spPr>
          <a:xfrm>
            <a:off x="4619625" y="3667125"/>
            <a:ext cx="10001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775E6"/>
                </a:solidFill>
              </a:rPr>
              <a:t>STaaS</a:t>
            </a:r>
            <a:endParaRPr/>
          </a:p>
        </p:txBody>
      </p:sp>
      <p:sp>
        <p:nvSpPr>
          <p:cNvPr id="436" name="Google Shape;436;p16"/>
          <p:cNvSpPr/>
          <p:nvPr/>
        </p:nvSpPr>
        <p:spPr>
          <a:xfrm>
            <a:off x="4619625" y="4114800"/>
            <a:ext cx="285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Nesne / blok depolama</a:t>
            </a:r>
            <a:endParaRPr/>
          </a:p>
        </p:txBody>
      </p:sp>
      <p:sp>
        <p:nvSpPr>
          <p:cNvPr id="437" name="Google Shape;437;p16"/>
          <p:cNvSpPr/>
          <p:nvPr/>
        </p:nvSpPr>
        <p:spPr>
          <a:xfrm>
            <a:off x="8143875" y="3476625"/>
            <a:ext cx="3333750" cy="1285875"/>
          </a:xfrm>
          <a:prstGeom prst="roundRect">
            <a:avLst>
              <a:gd fmla="val 8889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6"/>
          <p:cNvSpPr/>
          <p:nvPr/>
        </p:nvSpPr>
        <p:spPr>
          <a:xfrm>
            <a:off x="8334375" y="3667125"/>
            <a:ext cx="10001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775E6"/>
                </a:solidFill>
              </a:rPr>
              <a:t>NaaS</a:t>
            </a:r>
            <a:endParaRPr/>
          </a:p>
        </p:txBody>
      </p:sp>
      <p:sp>
        <p:nvSpPr>
          <p:cNvPr id="439" name="Google Shape;439;p16"/>
          <p:cNvSpPr/>
          <p:nvPr/>
        </p:nvSpPr>
        <p:spPr>
          <a:xfrm>
            <a:off x="8334375" y="4114800"/>
            <a:ext cx="285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Ağ hizmetleri</a:t>
            </a:r>
            <a:endParaRPr/>
          </a:p>
        </p:txBody>
      </p:sp>
      <p:sp>
        <p:nvSpPr>
          <p:cNvPr id="440" name="Google Shape;440;p16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7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PRIVATE CLOUD</a:t>
            </a:r>
            <a:endParaRPr/>
          </a:p>
        </p:txBody>
      </p:sp>
      <p:sp>
        <p:nvSpPr>
          <p:cNvPr id="447" name="Google Shape;447;p17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Private cloud için önce hedef işletim modelini tasarlayın</a:t>
            </a:r>
            <a:endParaRPr/>
          </a:p>
        </p:txBody>
      </p:sp>
      <p:cxnSp>
        <p:nvCxnSpPr>
          <p:cNvPr id="448" name="Google Shape;448;p17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9" name="Google Shape;449;p17"/>
          <p:cNvSpPr/>
          <p:nvPr/>
        </p:nvSpPr>
        <p:spPr>
          <a:xfrm>
            <a:off x="590550" y="2190750"/>
            <a:ext cx="2000250" cy="1714500"/>
          </a:xfrm>
          <a:prstGeom prst="roundRect">
            <a:avLst>
              <a:gd fmla="val 6667" name="adj"/>
            </a:avLst>
          </a:prstGeom>
          <a:solidFill>
            <a:srgbClr val="E8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7"/>
          <p:cNvSpPr/>
          <p:nvPr/>
        </p:nvSpPr>
        <p:spPr>
          <a:xfrm>
            <a:off x="762000" y="2352675"/>
            <a:ext cx="333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775E6"/>
                </a:solidFill>
              </a:rPr>
              <a:t>1</a:t>
            </a:r>
            <a:endParaRPr/>
          </a:p>
        </p:txBody>
      </p:sp>
      <p:sp>
        <p:nvSpPr>
          <p:cNvPr id="451" name="Google Shape;451;p17"/>
          <p:cNvSpPr/>
          <p:nvPr/>
        </p:nvSpPr>
        <p:spPr>
          <a:xfrm>
            <a:off x="762000" y="2905125"/>
            <a:ext cx="16573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220"/>
                </a:solidFill>
              </a:rPr>
              <a:t>İş yükü ve SLA</a:t>
            </a:r>
            <a:endParaRPr/>
          </a:p>
        </p:txBody>
      </p:sp>
      <p:sp>
        <p:nvSpPr>
          <p:cNvPr id="452" name="Google Shape;452;p17"/>
          <p:cNvSpPr/>
          <p:nvPr/>
        </p:nvSpPr>
        <p:spPr>
          <a:xfrm>
            <a:off x="2876550" y="2190750"/>
            <a:ext cx="2000250" cy="1714500"/>
          </a:xfrm>
          <a:prstGeom prst="roundRect">
            <a:avLst>
              <a:gd fmla="val 6667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7"/>
          <p:cNvSpPr/>
          <p:nvPr/>
        </p:nvSpPr>
        <p:spPr>
          <a:xfrm>
            <a:off x="3048000" y="2352675"/>
            <a:ext cx="333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775E6"/>
                </a:solidFill>
              </a:rPr>
              <a:t>2</a:t>
            </a:r>
            <a:endParaRPr/>
          </a:p>
        </p:txBody>
      </p:sp>
      <p:sp>
        <p:nvSpPr>
          <p:cNvPr id="454" name="Google Shape;454;p17"/>
          <p:cNvSpPr/>
          <p:nvPr/>
        </p:nvSpPr>
        <p:spPr>
          <a:xfrm>
            <a:off x="3048000" y="2905125"/>
            <a:ext cx="16573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220"/>
                </a:solidFill>
              </a:rPr>
              <a:t>Servis kataloğu</a:t>
            </a:r>
            <a:endParaRPr/>
          </a:p>
        </p:txBody>
      </p:sp>
      <p:sp>
        <p:nvSpPr>
          <p:cNvPr id="455" name="Google Shape;455;p17"/>
          <p:cNvSpPr/>
          <p:nvPr/>
        </p:nvSpPr>
        <p:spPr>
          <a:xfrm>
            <a:off x="5162550" y="2190750"/>
            <a:ext cx="2000250" cy="1714500"/>
          </a:xfrm>
          <a:prstGeom prst="roundRect">
            <a:avLst>
              <a:gd fmla="val 6667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7"/>
          <p:cNvSpPr/>
          <p:nvPr/>
        </p:nvSpPr>
        <p:spPr>
          <a:xfrm>
            <a:off x="5334000" y="2352675"/>
            <a:ext cx="333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775E6"/>
                </a:solidFill>
              </a:rPr>
              <a:t>3</a:t>
            </a:r>
            <a:endParaRPr/>
          </a:p>
        </p:txBody>
      </p:sp>
      <p:sp>
        <p:nvSpPr>
          <p:cNvPr id="457" name="Google Shape;457;p17"/>
          <p:cNvSpPr/>
          <p:nvPr/>
        </p:nvSpPr>
        <p:spPr>
          <a:xfrm>
            <a:off x="5334000" y="2905125"/>
            <a:ext cx="16573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220"/>
                </a:solidFill>
              </a:rPr>
              <a:t>Mimari ve kapasite</a:t>
            </a:r>
            <a:endParaRPr/>
          </a:p>
        </p:txBody>
      </p:sp>
      <p:sp>
        <p:nvSpPr>
          <p:cNvPr id="458" name="Google Shape;458;p17"/>
          <p:cNvSpPr/>
          <p:nvPr/>
        </p:nvSpPr>
        <p:spPr>
          <a:xfrm>
            <a:off x="7448550" y="2190750"/>
            <a:ext cx="2000250" cy="1714500"/>
          </a:xfrm>
          <a:prstGeom prst="roundRect">
            <a:avLst>
              <a:gd fmla="val 6667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7"/>
          <p:cNvSpPr/>
          <p:nvPr/>
        </p:nvSpPr>
        <p:spPr>
          <a:xfrm>
            <a:off x="7620000" y="2352675"/>
            <a:ext cx="333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775E6"/>
                </a:solidFill>
              </a:rPr>
              <a:t>4</a:t>
            </a:r>
            <a:endParaRPr/>
          </a:p>
        </p:txBody>
      </p:sp>
      <p:sp>
        <p:nvSpPr>
          <p:cNvPr id="460" name="Google Shape;460;p17"/>
          <p:cNvSpPr/>
          <p:nvPr/>
        </p:nvSpPr>
        <p:spPr>
          <a:xfrm>
            <a:off x="7620000" y="2905125"/>
            <a:ext cx="16573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220"/>
                </a:solidFill>
              </a:rPr>
              <a:t>Otomasyon</a:t>
            </a:r>
            <a:endParaRPr/>
          </a:p>
        </p:txBody>
      </p:sp>
      <p:sp>
        <p:nvSpPr>
          <p:cNvPr id="461" name="Google Shape;461;p17"/>
          <p:cNvSpPr/>
          <p:nvPr/>
        </p:nvSpPr>
        <p:spPr>
          <a:xfrm>
            <a:off x="9734550" y="2190750"/>
            <a:ext cx="2000250" cy="1714500"/>
          </a:xfrm>
          <a:prstGeom prst="roundRect">
            <a:avLst>
              <a:gd fmla="val 6667" name="adj"/>
            </a:avLst>
          </a:prstGeom>
          <a:solidFill>
            <a:srgbClr val="E8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7"/>
          <p:cNvSpPr/>
          <p:nvPr/>
        </p:nvSpPr>
        <p:spPr>
          <a:xfrm>
            <a:off x="9906000" y="2352675"/>
            <a:ext cx="333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775E6"/>
                </a:solidFill>
              </a:rPr>
              <a:t>5</a:t>
            </a:r>
            <a:endParaRPr/>
          </a:p>
        </p:txBody>
      </p:sp>
      <p:sp>
        <p:nvSpPr>
          <p:cNvPr id="463" name="Google Shape;463;p17"/>
          <p:cNvSpPr/>
          <p:nvPr/>
        </p:nvSpPr>
        <p:spPr>
          <a:xfrm>
            <a:off x="9906000" y="2905125"/>
            <a:ext cx="16573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220"/>
                </a:solidFill>
              </a:rPr>
              <a:t>Operasyon ve FinOps</a:t>
            </a:r>
            <a:endParaRPr/>
          </a:p>
        </p:txBody>
      </p:sp>
      <p:sp>
        <p:nvSpPr>
          <p:cNvPr id="464" name="Google Shape;464;p17"/>
          <p:cNvSpPr/>
          <p:nvPr/>
        </p:nvSpPr>
        <p:spPr>
          <a:xfrm>
            <a:off x="857250" y="4905375"/>
            <a:ext cx="10477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02A43"/>
                </a:solidFill>
              </a:rPr>
              <a:t>Donanım almak başlangıçtır; ürün gibi işletmek private cloud’u sürdürülebilir kılar.</a:t>
            </a:r>
            <a:endParaRPr/>
          </a:p>
        </p:txBody>
      </p:sp>
      <p:sp>
        <p:nvSpPr>
          <p:cNvPr id="465" name="Google Shape;465;p17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8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IaC</a:t>
            </a:r>
            <a:endParaRPr/>
          </a:p>
        </p:txBody>
      </p:sp>
      <p:sp>
        <p:nvSpPr>
          <p:cNvPr id="472" name="Google Shape;472;p18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Infrastructure as Code, altyapıyı tekrarlanabilir yapar</a:t>
            </a:r>
            <a:endParaRPr/>
          </a:p>
        </p:txBody>
      </p:sp>
      <p:cxnSp>
        <p:nvCxnSpPr>
          <p:cNvPr id="473" name="Google Shape;473;p18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4" name="Google Shape;474;p18"/>
          <p:cNvSpPr/>
          <p:nvPr/>
        </p:nvSpPr>
        <p:spPr>
          <a:xfrm>
            <a:off x="723900" y="165735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8"/>
          <p:cNvSpPr/>
          <p:nvPr/>
        </p:nvSpPr>
        <p:spPr>
          <a:xfrm>
            <a:off x="1009650" y="1562100"/>
            <a:ext cx="51911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0B1220"/>
                </a:solidFill>
              </a:rPr>
              <a:t>Ağ, sunucu ve depolama kod dosyalarıyla tanımlanır</a:t>
            </a:r>
            <a:endParaRPr/>
          </a:p>
        </p:txBody>
      </p:sp>
      <p:sp>
        <p:nvSpPr>
          <p:cNvPr id="476" name="Google Shape;476;p18"/>
          <p:cNvSpPr/>
          <p:nvPr/>
        </p:nvSpPr>
        <p:spPr>
          <a:xfrm>
            <a:off x="723900" y="228600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8"/>
          <p:cNvSpPr/>
          <p:nvPr/>
        </p:nvSpPr>
        <p:spPr>
          <a:xfrm>
            <a:off x="1009650" y="2190750"/>
            <a:ext cx="51911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0B1220"/>
                </a:solidFill>
              </a:rPr>
              <a:t>Git geçmişi; değişiklik, inceleme ve geri dönüş sağlar</a:t>
            </a:r>
            <a:endParaRPr/>
          </a:p>
        </p:txBody>
      </p:sp>
      <p:sp>
        <p:nvSpPr>
          <p:cNvPr id="478" name="Google Shape;478;p18"/>
          <p:cNvSpPr/>
          <p:nvPr/>
        </p:nvSpPr>
        <p:spPr>
          <a:xfrm>
            <a:off x="723900" y="291465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8"/>
          <p:cNvSpPr/>
          <p:nvPr/>
        </p:nvSpPr>
        <p:spPr>
          <a:xfrm>
            <a:off x="1009650" y="2819400"/>
            <a:ext cx="51911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0B1220"/>
                </a:solidFill>
              </a:rPr>
              <a:t>Plan adımı uygulanacak farkı önceden gösterir</a:t>
            </a:r>
            <a:endParaRPr/>
          </a:p>
        </p:txBody>
      </p:sp>
      <p:sp>
        <p:nvSpPr>
          <p:cNvPr id="480" name="Google Shape;480;p18"/>
          <p:cNvSpPr/>
          <p:nvPr/>
        </p:nvSpPr>
        <p:spPr>
          <a:xfrm>
            <a:off x="723900" y="354330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8"/>
          <p:cNvSpPr/>
          <p:nvPr/>
        </p:nvSpPr>
        <p:spPr>
          <a:xfrm>
            <a:off x="1009650" y="3448050"/>
            <a:ext cx="51911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0B1220"/>
                </a:solidFill>
              </a:rPr>
              <a:t>Aynı modüller dev, test ve prod ortamlarında yeniden kullanılır</a:t>
            </a:r>
            <a:endParaRPr/>
          </a:p>
        </p:txBody>
      </p:sp>
      <p:sp>
        <p:nvSpPr>
          <p:cNvPr id="482" name="Google Shape;482;p18"/>
          <p:cNvSpPr/>
          <p:nvPr/>
        </p:nvSpPr>
        <p:spPr>
          <a:xfrm>
            <a:off x="723900" y="417195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8"/>
          <p:cNvSpPr/>
          <p:nvPr/>
        </p:nvSpPr>
        <p:spPr>
          <a:xfrm>
            <a:off x="1009650" y="4076700"/>
            <a:ext cx="51911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0B1220"/>
                </a:solidFill>
              </a:rPr>
              <a:t>Drift tespit edilerek elle yapılan değişiklikler görünür olur</a:t>
            </a:r>
            <a:endParaRPr/>
          </a:p>
        </p:txBody>
      </p:sp>
      <p:sp>
        <p:nvSpPr>
          <p:cNvPr id="484" name="Google Shape;484;p18"/>
          <p:cNvSpPr/>
          <p:nvPr/>
        </p:nvSpPr>
        <p:spPr>
          <a:xfrm>
            <a:off x="6477000" y="1619250"/>
            <a:ext cx="4857750" cy="3238500"/>
          </a:xfrm>
          <a:prstGeom prst="roundRect">
            <a:avLst>
              <a:gd fmla="val 3529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8"/>
          <p:cNvSpPr/>
          <p:nvPr/>
        </p:nvSpPr>
        <p:spPr>
          <a:xfrm>
            <a:off x="6762750" y="1838325"/>
            <a:ext cx="4286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63CBE8"/>
                </a:solidFill>
              </a:rPr>
              <a:t>Terraform örneği</a:t>
            </a:r>
            <a:endParaRPr/>
          </a:p>
        </p:txBody>
      </p:sp>
      <p:sp>
        <p:nvSpPr>
          <p:cNvPr id="486" name="Google Shape;486;p18"/>
          <p:cNvSpPr/>
          <p:nvPr/>
        </p:nvSpPr>
        <p:spPr>
          <a:xfrm>
            <a:off x="6762750" y="2238375"/>
            <a:ext cx="4191000" cy="23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FFFFF"/>
                </a:solidFill>
              </a:rPr>
              <a:t>module "network"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FFFFF"/>
                </a:solidFill>
              </a:rPr>
              <a:t>  source = "./modules/network"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FFFFF"/>
                </a:solidFill>
              </a:rPr>
              <a:t>  name   = "prod-vpc"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FFFFF"/>
                </a:solidFill>
              </a:rPr>
              <a:t>  cidr   = "10.20.0.0/16"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FFFFF"/>
                </a:solidFill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FFFFF"/>
                </a:solidFill>
              </a:rPr>
              <a:t>module "web"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FFFFF"/>
                </a:solidFill>
              </a:rPr>
              <a:t>  source     = "./modules/vm"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FFFFF"/>
                </a:solidFill>
              </a:rPr>
              <a:t>  network_id = module.network.id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FFFFF"/>
                </a:solidFill>
              </a:rPr>
              <a:t>  replicas   =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FFFFF"/>
                </a:solidFill>
              </a:rPr>
              <a:t>}</a:t>
            </a:r>
            <a:endParaRPr/>
          </a:p>
        </p:txBody>
      </p:sp>
      <p:sp>
        <p:nvSpPr>
          <p:cNvPr id="487" name="Google Shape;487;p18"/>
          <p:cNvSpPr/>
          <p:nvPr/>
        </p:nvSpPr>
        <p:spPr>
          <a:xfrm>
            <a:off x="876300" y="5219700"/>
            <a:ext cx="10382250" cy="495300"/>
          </a:xfrm>
          <a:prstGeom prst="roundRect">
            <a:avLst>
              <a:gd fmla="val 23077" name="adj"/>
            </a:avLst>
          </a:prstGeom>
          <a:solidFill>
            <a:srgbClr val="E8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8"/>
          <p:cNvSpPr/>
          <p:nvPr/>
        </p:nvSpPr>
        <p:spPr>
          <a:xfrm>
            <a:off x="1095375" y="5343525"/>
            <a:ext cx="9944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02A43"/>
                </a:solidFill>
              </a:rPr>
              <a:t>Git  →  Review  →  Plan  →  Apply  →  Drift kontrolü</a:t>
            </a:r>
            <a:endParaRPr/>
          </a:p>
        </p:txBody>
      </p:sp>
      <p:sp>
        <p:nvSpPr>
          <p:cNvPr id="489" name="Google Shape;489;p18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9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VERİ GÜVENLİĞİ</a:t>
            </a:r>
            <a:endParaRPr/>
          </a:p>
        </p:txBody>
      </p:sp>
      <p:sp>
        <p:nvSpPr>
          <p:cNvPr id="496" name="Google Shape;496;p19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Public cloud’da veri güvenli nasıl saklanmalı?</a:t>
            </a:r>
            <a:endParaRPr/>
          </a:p>
        </p:txBody>
      </p:sp>
      <p:cxnSp>
        <p:nvCxnSpPr>
          <p:cNvPr id="497" name="Google Shape;497;p19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8" name="Google Shape;498;p19"/>
          <p:cNvSpPr/>
          <p:nvPr/>
        </p:nvSpPr>
        <p:spPr>
          <a:xfrm>
            <a:off x="762000" y="1666875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9"/>
          <p:cNvSpPr/>
          <p:nvPr/>
        </p:nvSpPr>
        <p:spPr>
          <a:xfrm>
            <a:off x="1047750" y="1571625"/>
            <a:ext cx="5810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B1220"/>
                </a:solidFill>
              </a:rPr>
              <a:t>Veriyi hassasiyetine göre sınıflandırın ve uygun bölgede tutun</a:t>
            </a:r>
            <a:endParaRPr/>
          </a:p>
        </p:txBody>
      </p:sp>
      <p:sp>
        <p:nvSpPr>
          <p:cNvPr id="500" name="Google Shape;500;p19"/>
          <p:cNvSpPr/>
          <p:nvPr/>
        </p:nvSpPr>
        <p:spPr>
          <a:xfrm>
            <a:off x="762000" y="2352675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9"/>
          <p:cNvSpPr/>
          <p:nvPr/>
        </p:nvSpPr>
        <p:spPr>
          <a:xfrm>
            <a:off x="1047750" y="2257425"/>
            <a:ext cx="5810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B1220"/>
                </a:solidFill>
              </a:rPr>
              <a:t>Depolama, veri tabanı ve yedeklerde şifrelemeyi zorunlu kılın</a:t>
            </a:r>
            <a:endParaRPr/>
          </a:p>
        </p:txBody>
      </p:sp>
      <p:sp>
        <p:nvSpPr>
          <p:cNvPr id="502" name="Google Shape;502;p19"/>
          <p:cNvSpPr/>
          <p:nvPr/>
        </p:nvSpPr>
        <p:spPr>
          <a:xfrm>
            <a:off x="762000" y="3038475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9"/>
          <p:cNvSpPr/>
          <p:nvPr/>
        </p:nvSpPr>
        <p:spPr>
          <a:xfrm>
            <a:off x="1047750" y="2943225"/>
            <a:ext cx="5810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B1220"/>
                </a:solidFill>
              </a:rPr>
              <a:t>Anahtarları KMS/HSM ile yönetin; erişimi veri erişiminden ayırın</a:t>
            </a:r>
            <a:endParaRPr/>
          </a:p>
        </p:txBody>
      </p:sp>
      <p:sp>
        <p:nvSpPr>
          <p:cNvPr id="504" name="Google Shape;504;p19"/>
          <p:cNvSpPr/>
          <p:nvPr/>
        </p:nvSpPr>
        <p:spPr>
          <a:xfrm>
            <a:off x="762000" y="3724275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9"/>
          <p:cNvSpPr/>
          <p:nvPr/>
        </p:nvSpPr>
        <p:spPr>
          <a:xfrm>
            <a:off x="1047750" y="3629025"/>
            <a:ext cx="5810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B1220"/>
                </a:solidFill>
              </a:rPr>
              <a:t>Public erişimi varsayılan olarak kapatın; private endpoint kullanın</a:t>
            </a:r>
            <a:endParaRPr/>
          </a:p>
        </p:txBody>
      </p:sp>
      <p:sp>
        <p:nvSpPr>
          <p:cNvPr id="506" name="Google Shape;506;p19"/>
          <p:cNvSpPr/>
          <p:nvPr/>
        </p:nvSpPr>
        <p:spPr>
          <a:xfrm>
            <a:off x="762000" y="4410075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9"/>
          <p:cNvSpPr/>
          <p:nvPr/>
        </p:nvSpPr>
        <p:spPr>
          <a:xfrm>
            <a:off x="1047750" y="4314825"/>
            <a:ext cx="5810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B1220"/>
                </a:solidFill>
              </a:rPr>
              <a:t>Versiyonlama, değiştirilemez yedek ve düzenli geri dönüş testi uygulayın</a:t>
            </a:r>
            <a:endParaRPr/>
          </a:p>
        </p:txBody>
      </p:sp>
      <p:sp>
        <p:nvSpPr>
          <p:cNvPr id="508" name="Google Shape;508;p19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19</a:t>
            </a:r>
            <a:endParaRPr/>
          </a:p>
        </p:txBody>
      </p:sp>
      <p:pic>
        <p:nvPicPr>
          <p:cNvPr id="509" name="Google Shape;509;p19"/>
          <p:cNvPicPr preferRelativeResize="0"/>
          <p:nvPr/>
        </p:nvPicPr>
        <p:blipFill rotWithShape="1">
          <a:blip r:embed="rId3">
            <a:alphaModFix/>
          </a:blip>
          <a:srcRect b="0" l="13016" r="13016" t="0"/>
          <a:stretch/>
        </p:blipFill>
        <p:spPr>
          <a:xfrm>
            <a:off x="6953250" y="1666875"/>
            <a:ext cx="4381500" cy="3333750"/>
          </a:xfrm>
          <a:prstGeom prst="roundRect">
            <a:avLst>
              <a:gd fmla="val 3429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0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VERİ GÜVENLİĞİ</a:t>
            </a:r>
            <a:endParaRPr/>
          </a:p>
        </p:txBody>
      </p:sp>
      <p:sp>
        <p:nvSpPr>
          <p:cNvPr id="516" name="Google Shape;516;p20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Bulutta güvenlik, sağlayıcı ve müşteri arasında paylaşılır</a:t>
            </a:r>
            <a:endParaRPr/>
          </a:p>
        </p:txBody>
      </p:sp>
      <p:cxnSp>
        <p:nvCxnSpPr>
          <p:cNvPr id="517" name="Google Shape;517;p20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8" name="Google Shape;518;p20"/>
          <p:cNvSpPr/>
          <p:nvPr/>
        </p:nvSpPr>
        <p:spPr>
          <a:xfrm>
            <a:off x="904875" y="1952625"/>
            <a:ext cx="314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775E6"/>
                </a:solidFill>
              </a:rPr>
              <a:t>Bulut sağlayıcısı</a:t>
            </a:r>
            <a:endParaRPr/>
          </a:p>
        </p:txBody>
      </p:sp>
      <p:sp>
        <p:nvSpPr>
          <p:cNvPr id="519" name="Google Shape;519;p20"/>
          <p:cNvSpPr/>
          <p:nvPr/>
        </p:nvSpPr>
        <p:spPr>
          <a:xfrm>
            <a:off x="952500" y="266700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0"/>
          <p:cNvSpPr/>
          <p:nvPr/>
        </p:nvSpPr>
        <p:spPr>
          <a:xfrm>
            <a:off x="1238250" y="2571750"/>
            <a:ext cx="30480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B1220"/>
                </a:solidFill>
              </a:rPr>
              <a:t>Fiziksel veri merkezi</a:t>
            </a:r>
            <a:endParaRPr/>
          </a:p>
        </p:txBody>
      </p:sp>
      <p:sp>
        <p:nvSpPr>
          <p:cNvPr id="521" name="Google Shape;521;p20"/>
          <p:cNvSpPr/>
          <p:nvPr/>
        </p:nvSpPr>
        <p:spPr>
          <a:xfrm>
            <a:off x="952500" y="3286125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0"/>
          <p:cNvSpPr/>
          <p:nvPr/>
        </p:nvSpPr>
        <p:spPr>
          <a:xfrm>
            <a:off x="1238250" y="3190875"/>
            <a:ext cx="30480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B1220"/>
                </a:solidFill>
              </a:rPr>
              <a:t>Donanım ve ana altyapı</a:t>
            </a:r>
            <a:endParaRPr/>
          </a:p>
        </p:txBody>
      </p:sp>
      <p:sp>
        <p:nvSpPr>
          <p:cNvPr id="523" name="Google Shape;523;p20"/>
          <p:cNvSpPr/>
          <p:nvPr/>
        </p:nvSpPr>
        <p:spPr>
          <a:xfrm>
            <a:off x="952500" y="390525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0"/>
          <p:cNvSpPr/>
          <p:nvPr/>
        </p:nvSpPr>
        <p:spPr>
          <a:xfrm>
            <a:off x="1238250" y="3810000"/>
            <a:ext cx="30480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B1220"/>
                </a:solidFill>
              </a:rPr>
              <a:t>Temel servis sürekliliği</a:t>
            </a:r>
            <a:endParaRPr/>
          </a:p>
        </p:txBody>
      </p:sp>
      <p:sp>
        <p:nvSpPr>
          <p:cNvPr id="525" name="Google Shape;525;p20"/>
          <p:cNvSpPr/>
          <p:nvPr/>
        </p:nvSpPr>
        <p:spPr>
          <a:xfrm>
            <a:off x="7239000" y="1952625"/>
            <a:ext cx="2857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02A43"/>
                </a:solidFill>
              </a:rPr>
              <a:t>Müşteri</a:t>
            </a:r>
            <a:endParaRPr/>
          </a:p>
        </p:txBody>
      </p:sp>
      <p:sp>
        <p:nvSpPr>
          <p:cNvPr id="526" name="Google Shape;526;p20"/>
          <p:cNvSpPr/>
          <p:nvPr/>
        </p:nvSpPr>
        <p:spPr>
          <a:xfrm>
            <a:off x="7286625" y="266700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0"/>
          <p:cNvSpPr/>
          <p:nvPr/>
        </p:nvSpPr>
        <p:spPr>
          <a:xfrm>
            <a:off x="7572375" y="2571750"/>
            <a:ext cx="31432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B1220"/>
                </a:solidFill>
              </a:rPr>
              <a:t>Kimlik ve yetkiler</a:t>
            </a:r>
            <a:endParaRPr/>
          </a:p>
        </p:txBody>
      </p:sp>
      <p:sp>
        <p:nvSpPr>
          <p:cNvPr id="528" name="Google Shape;528;p20"/>
          <p:cNvSpPr/>
          <p:nvPr/>
        </p:nvSpPr>
        <p:spPr>
          <a:xfrm>
            <a:off x="7286625" y="3286125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0"/>
          <p:cNvSpPr/>
          <p:nvPr/>
        </p:nvSpPr>
        <p:spPr>
          <a:xfrm>
            <a:off x="7572375" y="3190875"/>
            <a:ext cx="31432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B1220"/>
                </a:solidFill>
              </a:rPr>
              <a:t>Veri sınıflandırması</a:t>
            </a:r>
            <a:endParaRPr/>
          </a:p>
        </p:txBody>
      </p:sp>
      <p:sp>
        <p:nvSpPr>
          <p:cNvPr id="530" name="Google Shape;530;p20"/>
          <p:cNvSpPr/>
          <p:nvPr/>
        </p:nvSpPr>
        <p:spPr>
          <a:xfrm>
            <a:off x="7286625" y="390525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0"/>
          <p:cNvSpPr/>
          <p:nvPr/>
        </p:nvSpPr>
        <p:spPr>
          <a:xfrm>
            <a:off x="7572375" y="3810000"/>
            <a:ext cx="31432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B1220"/>
                </a:solidFill>
              </a:rPr>
              <a:t>Uygulama ve yapılandırma</a:t>
            </a:r>
            <a:endParaRPr/>
          </a:p>
        </p:txBody>
      </p:sp>
      <p:sp>
        <p:nvSpPr>
          <p:cNvPr id="532" name="Google Shape;532;p20"/>
          <p:cNvSpPr/>
          <p:nvPr/>
        </p:nvSpPr>
        <p:spPr>
          <a:xfrm>
            <a:off x="1143000" y="523875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B1220"/>
                </a:solidFill>
              </a:rPr>
              <a:t>Sorumluluk sınırı, kullanılan IaaS–PaaS–SaaS modeline göre değişir.</a:t>
            </a:r>
            <a:endParaRPr/>
          </a:p>
        </p:txBody>
      </p:sp>
      <p:sp>
        <p:nvSpPr>
          <p:cNvPr id="533" name="Google Shape;533;p20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1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VERİ GÜVENLİĞİ</a:t>
            </a:r>
            <a:endParaRPr/>
          </a:p>
        </p:txBody>
      </p:sp>
      <p:sp>
        <p:nvSpPr>
          <p:cNvPr id="540" name="Google Shape;540;p21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Bulutun güvenlik avantajı: kurumsal yeteneklere hızlı erişim</a:t>
            </a:r>
            <a:endParaRPr/>
          </a:p>
        </p:txBody>
      </p:sp>
      <p:cxnSp>
        <p:nvCxnSpPr>
          <p:cNvPr id="541" name="Google Shape;541;p21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2" name="Google Shape;542;p21"/>
          <p:cNvSpPr/>
          <p:nvPr/>
        </p:nvSpPr>
        <p:spPr>
          <a:xfrm>
            <a:off x="762000" y="1666875"/>
            <a:ext cx="400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775E6"/>
                </a:solidFill>
              </a:rPr>
              <a:t>01</a:t>
            </a:r>
            <a:endParaRPr/>
          </a:p>
        </p:txBody>
      </p:sp>
      <p:sp>
        <p:nvSpPr>
          <p:cNvPr id="543" name="Google Shape;543;p21"/>
          <p:cNvSpPr/>
          <p:nvPr/>
        </p:nvSpPr>
        <p:spPr>
          <a:xfrm>
            <a:off x="1333500" y="1666875"/>
            <a:ext cx="171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220"/>
                </a:solidFill>
              </a:rPr>
              <a:t>Ölçek</a:t>
            </a:r>
            <a:endParaRPr/>
          </a:p>
        </p:txBody>
      </p:sp>
      <p:sp>
        <p:nvSpPr>
          <p:cNvPr id="544" name="Google Shape;544;p21"/>
          <p:cNvSpPr/>
          <p:nvPr/>
        </p:nvSpPr>
        <p:spPr>
          <a:xfrm>
            <a:off x="3333750" y="1666875"/>
            <a:ext cx="7334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Merkezi güvenlik servisleri ve otomasyon</a:t>
            </a:r>
            <a:endParaRPr/>
          </a:p>
        </p:txBody>
      </p:sp>
      <p:sp>
        <p:nvSpPr>
          <p:cNvPr id="545" name="Google Shape;545;p21"/>
          <p:cNvSpPr/>
          <p:nvPr/>
        </p:nvSpPr>
        <p:spPr>
          <a:xfrm>
            <a:off x="762000" y="2447925"/>
            <a:ext cx="400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775E6"/>
                </a:solidFill>
              </a:rPr>
              <a:t>02</a:t>
            </a:r>
            <a:endParaRPr/>
          </a:p>
        </p:txBody>
      </p:sp>
      <p:sp>
        <p:nvSpPr>
          <p:cNvPr id="546" name="Google Shape;546;p21"/>
          <p:cNvSpPr/>
          <p:nvPr/>
        </p:nvSpPr>
        <p:spPr>
          <a:xfrm>
            <a:off x="1333500" y="2447925"/>
            <a:ext cx="171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220"/>
                </a:solidFill>
              </a:rPr>
              <a:t>Görünürlük</a:t>
            </a:r>
            <a:endParaRPr/>
          </a:p>
        </p:txBody>
      </p:sp>
      <p:sp>
        <p:nvSpPr>
          <p:cNvPr id="547" name="Google Shape;547;p21"/>
          <p:cNvSpPr/>
          <p:nvPr/>
        </p:nvSpPr>
        <p:spPr>
          <a:xfrm>
            <a:off x="3333750" y="2447925"/>
            <a:ext cx="7334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Log, audit ve tehdit izleme araçları</a:t>
            </a:r>
            <a:endParaRPr/>
          </a:p>
        </p:txBody>
      </p:sp>
      <p:sp>
        <p:nvSpPr>
          <p:cNvPr id="548" name="Google Shape;548;p21"/>
          <p:cNvSpPr/>
          <p:nvPr/>
        </p:nvSpPr>
        <p:spPr>
          <a:xfrm>
            <a:off x="762000" y="3228975"/>
            <a:ext cx="400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775E6"/>
                </a:solidFill>
              </a:rPr>
              <a:t>03</a:t>
            </a:r>
            <a:endParaRPr/>
          </a:p>
        </p:txBody>
      </p:sp>
      <p:sp>
        <p:nvSpPr>
          <p:cNvPr id="549" name="Google Shape;549;p21"/>
          <p:cNvSpPr/>
          <p:nvPr/>
        </p:nvSpPr>
        <p:spPr>
          <a:xfrm>
            <a:off x="1333500" y="3228975"/>
            <a:ext cx="171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220"/>
                </a:solidFill>
              </a:rPr>
              <a:t>Dayanıklılık</a:t>
            </a:r>
            <a:endParaRPr/>
          </a:p>
        </p:txBody>
      </p:sp>
      <p:sp>
        <p:nvSpPr>
          <p:cNvPr id="550" name="Google Shape;550;p21"/>
          <p:cNvSpPr/>
          <p:nvPr/>
        </p:nvSpPr>
        <p:spPr>
          <a:xfrm>
            <a:off x="3333750" y="3228975"/>
            <a:ext cx="7334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Zone, yedek ve felaket kurtarma</a:t>
            </a:r>
            <a:endParaRPr/>
          </a:p>
        </p:txBody>
      </p:sp>
      <p:sp>
        <p:nvSpPr>
          <p:cNvPr id="551" name="Google Shape;551;p21"/>
          <p:cNvSpPr/>
          <p:nvPr/>
        </p:nvSpPr>
        <p:spPr>
          <a:xfrm>
            <a:off x="762000" y="4010025"/>
            <a:ext cx="400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775E6"/>
                </a:solidFill>
              </a:rPr>
              <a:t>04</a:t>
            </a:r>
            <a:endParaRPr/>
          </a:p>
        </p:txBody>
      </p:sp>
      <p:sp>
        <p:nvSpPr>
          <p:cNvPr id="552" name="Google Shape;552;p21"/>
          <p:cNvSpPr/>
          <p:nvPr/>
        </p:nvSpPr>
        <p:spPr>
          <a:xfrm>
            <a:off x="1333500" y="4010025"/>
            <a:ext cx="171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220"/>
                </a:solidFill>
              </a:rPr>
              <a:t>Güncellik</a:t>
            </a:r>
            <a:endParaRPr/>
          </a:p>
        </p:txBody>
      </p:sp>
      <p:sp>
        <p:nvSpPr>
          <p:cNvPr id="553" name="Google Shape;553;p21"/>
          <p:cNvSpPr/>
          <p:nvPr/>
        </p:nvSpPr>
        <p:spPr>
          <a:xfrm>
            <a:off x="3333750" y="4010025"/>
            <a:ext cx="7334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Altyapı yamalarının merkezi yönetimi</a:t>
            </a:r>
            <a:endParaRPr/>
          </a:p>
        </p:txBody>
      </p:sp>
      <p:sp>
        <p:nvSpPr>
          <p:cNvPr id="554" name="Google Shape;554;p21"/>
          <p:cNvSpPr/>
          <p:nvPr/>
        </p:nvSpPr>
        <p:spPr>
          <a:xfrm>
            <a:off x="762000" y="4791075"/>
            <a:ext cx="400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775E6"/>
                </a:solidFill>
              </a:rPr>
              <a:t>05</a:t>
            </a:r>
            <a:endParaRPr/>
          </a:p>
        </p:txBody>
      </p:sp>
      <p:sp>
        <p:nvSpPr>
          <p:cNvPr id="555" name="Google Shape;555;p21"/>
          <p:cNvSpPr/>
          <p:nvPr/>
        </p:nvSpPr>
        <p:spPr>
          <a:xfrm>
            <a:off x="1333500" y="4791075"/>
            <a:ext cx="171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220"/>
                </a:solidFill>
              </a:rPr>
              <a:t>Standart</a:t>
            </a:r>
            <a:endParaRPr/>
          </a:p>
        </p:txBody>
      </p:sp>
      <p:sp>
        <p:nvSpPr>
          <p:cNvPr id="556" name="Google Shape;556;p21"/>
          <p:cNvSpPr/>
          <p:nvPr/>
        </p:nvSpPr>
        <p:spPr>
          <a:xfrm>
            <a:off x="3333750" y="4791075"/>
            <a:ext cx="7334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Politikaların tutarlı uygulanması</a:t>
            </a:r>
            <a:endParaRPr/>
          </a:p>
        </p:txBody>
      </p:sp>
      <p:sp>
        <p:nvSpPr>
          <p:cNvPr id="557" name="Google Shape;557;p21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2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VERİ GÜVENLİĞİ</a:t>
            </a:r>
            <a:endParaRPr/>
          </a:p>
        </p:txBody>
      </p:sp>
      <p:sp>
        <p:nvSpPr>
          <p:cNvPr id="564" name="Google Shape;564;p22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Bulut güvenliğinin dezavantajları yeni riskler getirir</a:t>
            </a:r>
            <a:endParaRPr/>
          </a:p>
        </p:txBody>
      </p:sp>
      <p:cxnSp>
        <p:nvCxnSpPr>
          <p:cNvPr id="565" name="Google Shape;565;p22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6" name="Google Shape;566;p22"/>
          <p:cNvSpPr/>
          <p:nvPr/>
        </p:nvSpPr>
        <p:spPr>
          <a:xfrm>
            <a:off x="714375" y="1638300"/>
            <a:ext cx="2190750" cy="571500"/>
          </a:xfrm>
          <a:prstGeom prst="roundRect">
            <a:avLst>
              <a:gd fmla="val 20000" name="adj"/>
            </a:avLst>
          </a:prstGeom>
          <a:solidFill>
            <a:srgbClr val="FFF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2"/>
          <p:cNvSpPr/>
          <p:nvPr/>
        </p:nvSpPr>
        <p:spPr>
          <a:xfrm>
            <a:off x="876300" y="1800225"/>
            <a:ext cx="2329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59E42"/>
                </a:solidFill>
              </a:rPr>
              <a:t>Yanlış yapılandırma</a:t>
            </a:r>
            <a:endParaRPr/>
          </a:p>
        </p:txBody>
      </p:sp>
      <p:sp>
        <p:nvSpPr>
          <p:cNvPr id="568" name="Google Shape;568;p22"/>
          <p:cNvSpPr/>
          <p:nvPr/>
        </p:nvSpPr>
        <p:spPr>
          <a:xfrm>
            <a:off x="3286125" y="1781175"/>
            <a:ext cx="7524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2606D"/>
                </a:solidFill>
              </a:rPr>
              <a:t>Açık depolama, geniş yetki, hatalı ağ kuralı</a:t>
            </a:r>
            <a:endParaRPr/>
          </a:p>
        </p:txBody>
      </p:sp>
      <p:sp>
        <p:nvSpPr>
          <p:cNvPr id="569" name="Google Shape;569;p22"/>
          <p:cNvSpPr/>
          <p:nvPr/>
        </p:nvSpPr>
        <p:spPr>
          <a:xfrm>
            <a:off x="714375" y="2438400"/>
            <a:ext cx="2190750" cy="571500"/>
          </a:xfrm>
          <a:prstGeom prst="roundRect">
            <a:avLst>
              <a:gd fmla="val 20000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2"/>
          <p:cNvSpPr/>
          <p:nvPr/>
        </p:nvSpPr>
        <p:spPr>
          <a:xfrm>
            <a:off x="876300" y="2600325"/>
            <a:ext cx="1885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220"/>
                </a:solidFill>
              </a:rPr>
              <a:t>Kimlik saldırıları</a:t>
            </a:r>
            <a:endParaRPr/>
          </a:p>
        </p:txBody>
      </p:sp>
      <p:sp>
        <p:nvSpPr>
          <p:cNvPr id="571" name="Google Shape;571;p22"/>
          <p:cNvSpPr/>
          <p:nvPr/>
        </p:nvSpPr>
        <p:spPr>
          <a:xfrm>
            <a:off x="3286125" y="2581275"/>
            <a:ext cx="7524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2606D"/>
                </a:solidFill>
              </a:rPr>
              <a:t>Ele geçirilen hesap yüksek etki oluşturabilir</a:t>
            </a:r>
            <a:endParaRPr/>
          </a:p>
        </p:txBody>
      </p:sp>
      <p:sp>
        <p:nvSpPr>
          <p:cNvPr id="572" name="Google Shape;572;p22"/>
          <p:cNvSpPr/>
          <p:nvPr/>
        </p:nvSpPr>
        <p:spPr>
          <a:xfrm>
            <a:off x="714375" y="3238500"/>
            <a:ext cx="2190750" cy="571500"/>
          </a:xfrm>
          <a:prstGeom prst="roundRect">
            <a:avLst>
              <a:gd fmla="val 20000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2"/>
          <p:cNvSpPr/>
          <p:nvPr/>
        </p:nvSpPr>
        <p:spPr>
          <a:xfrm>
            <a:off x="821950" y="3319484"/>
            <a:ext cx="25908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220"/>
                </a:solidFill>
              </a:rPr>
              <a:t>Sağlayıcı bağımlılığı</a:t>
            </a:r>
            <a:endParaRPr/>
          </a:p>
        </p:txBody>
      </p:sp>
      <p:sp>
        <p:nvSpPr>
          <p:cNvPr id="574" name="Google Shape;574;p22"/>
          <p:cNvSpPr/>
          <p:nvPr/>
        </p:nvSpPr>
        <p:spPr>
          <a:xfrm>
            <a:off x="3286125" y="3381375"/>
            <a:ext cx="7524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2606D"/>
                </a:solidFill>
              </a:rPr>
              <a:t>Kesinti veya servis değişikliği doğrudan etkiler</a:t>
            </a:r>
            <a:endParaRPr/>
          </a:p>
        </p:txBody>
      </p:sp>
      <p:sp>
        <p:nvSpPr>
          <p:cNvPr id="575" name="Google Shape;575;p22"/>
          <p:cNvSpPr/>
          <p:nvPr/>
        </p:nvSpPr>
        <p:spPr>
          <a:xfrm>
            <a:off x="714375" y="4038600"/>
            <a:ext cx="2190750" cy="571500"/>
          </a:xfrm>
          <a:prstGeom prst="roundRect">
            <a:avLst>
              <a:gd fmla="val 20000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2"/>
          <p:cNvSpPr/>
          <p:nvPr/>
        </p:nvSpPr>
        <p:spPr>
          <a:xfrm>
            <a:off x="876300" y="4200525"/>
            <a:ext cx="1885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220"/>
                </a:solidFill>
              </a:rPr>
              <a:t>Veri egemenliği</a:t>
            </a:r>
            <a:endParaRPr/>
          </a:p>
        </p:txBody>
      </p:sp>
      <p:sp>
        <p:nvSpPr>
          <p:cNvPr id="577" name="Google Shape;577;p22"/>
          <p:cNvSpPr/>
          <p:nvPr/>
        </p:nvSpPr>
        <p:spPr>
          <a:xfrm>
            <a:off x="3286125" y="4181475"/>
            <a:ext cx="7524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2606D"/>
                </a:solidFill>
              </a:rPr>
              <a:t>Verinin ülkesi ve işlenme yeri önemlidir</a:t>
            </a:r>
            <a:endParaRPr/>
          </a:p>
        </p:txBody>
      </p:sp>
      <p:sp>
        <p:nvSpPr>
          <p:cNvPr id="578" name="Google Shape;578;p22"/>
          <p:cNvSpPr/>
          <p:nvPr/>
        </p:nvSpPr>
        <p:spPr>
          <a:xfrm>
            <a:off x="714375" y="4838700"/>
            <a:ext cx="2190750" cy="571500"/>
          </a:xfrm>
          <a:prstGeom prst="roundRect">
            <a:avLst>
              <a:gd fmla="val 20000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2"/>
          <p:cNvSpPr/>
          <p:nvPr/>
        </p:nvSpPr>
        <p:spPr>
          <a:xfrm>
            <a:off x="876300" y="5000625"/>
            <a:ext cx="1885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220"/>
                </a:solidFill>
              </a:rPr>
              <a:t>Görünürlük farkı</a:t>
            </a:r>
            <a:endParaRPr/>
          </a:p>
        </p:txBody>
      </p:sp>
      <p:sp>
        <p:nvSpPr>
          <p:cNvPr id="580" name="Google Shape;580;p22"/>
          <p:cNvSpPr/>
          <p:nvPr/>
        </p:nvSpPr>
        <p:spPr>
          <a:xfrm>
            <a:off x="3286125" y="4981575"/>
            <a:ext cx="7524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2606D"/>
                </a:solidFill>
              </a:rPr>
              <a:t>Fiziksel altyapı müşterinin kontrolünde değildir</a:t>
            </a:r>
            <a:endParaRPr/>
          </a:p>
        </p:txBody>
      </p:sp>
      <p:sp>
        <p:nvSpPr>
          <p:cNvPr id="581" name="Google Shape;581;p22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3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VERİ YAŞAM DÖNGÜSÜ</a:t>
            </a:r>
            <a:endParaRPr/>
          </a:p>
        </p:txBody>
      </p:sp>
      <p:sp>
        <p:nvSpPr>
          <p:cNvPr id="588" name="Google Shape;588;p23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Veri, yaşam döngüsünün her aşamasında korunmalıdır</a:t>
            </a:r>
            <a:endParaRPr/>
          </a:p>
        </p:txBody>
      </p:sp>
      <p:cxnSp>
        <p:nvCxnSpPr>
          <p:cNvPr id="589" name="Google Shape;589;p23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0" name="Google Shape;590;p23"/>
          <p:cNvSpPr/>
          <p:nvPr/>
        </p:nvSpPr>
        <p:spPr>
          <a:xfrm>
            <a:off x="533400" y="2095500"/>
            <a:ext cx="1657350" cy="2238375"/>
          </a:xfrm>
          <a:prstGeom prst="roundRect">
            <a:avLst>
              <a:gd fmla="val 6897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3"/>
          <p:cNvSpPr/>
          <p:nvPr/>
        </p:nvSpPr>
        <p:spPr>
          <a:xfrm>
            <a:off x="704850" y="2286000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775E6"/>
                </a:solidFill>
              </a:rPr>
              <a:t>1</a:t>
            </a:r>
            <a:endParaRPr/>
          </a:p>
        </p:txBody>
      </p:sp>
      <p:sp>
        <p:nvSpPr>
          <p:cNvPr id="592" name="Google Shape;592;p23"/>
          <p:cNvSpPr/>
          <p:nvPr/>
        </p:nvSpPr>
        <p:spPr>
          <a:xfrm>
            <a:off x="704850" y="2857500"/>
            <a:ext cx="1314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220"/>
                </a:solidFill>
              </a:rPr>
              <a:t>Oluştur</a:t>
            </a:r>
            <a:endParaRPr/>
          </a:p>
        </p:txBody>
      </p:sp>
      <p:sp>
        <p:nvSpPr>
          <p:cNvPr id="593" name="Google Shape;593;p23"/>
          <p:cNvSpPr/>
          <p:nvPr/>
        </p:nvSpPr>
        <p:spPr>
          <a:xfrm>
            <a:off x="704850" y="3476625"/>
            <a:ext cx="1314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06D"/>
                </a:solidFill>
              </a:rPr>
              <a:t>Sınıflandır</a:t>
            </a:r>
            <a:endParaRPr/>
          </a:p>
        </p:txBody>
      </p:sp>
      <p:sp>
        <p:nvSpPr>
          <p:cNvPr id="594" name="Google Shape;594;p23"/>
          <p:cNvSpPr/>
          <p:nvPr/>
        </p:nvSpPr>
        <p:spPr>
          <a:xfrm>
            <a:off x="2438400" y="2095500"/>
            <a:ext cx="1657350" cy="2238375"/>
          </a:xfrm>
          <a:prstGeom prst="roundRect">
            <a:avLst>
              <a:gd fmla="val 6897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3"/>
          <p:cNvSpPr/>
          <p:nvPr/>
        </p:nvSpPr>
        <p:spPr>
          <a:xfrm>
            <a:off x="2609850" y="2286000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775E6"/>
                </a:solidFill>
              </a:rPr>
              <a:t>2</a:t>
            </a:r>
            <a:endParaRPr/>
          </a:p>
        </p:txBody>
      </p:sp>
      <p:sp>
        <p:nvSpPr>
          <p:cNvPr id="596" name="Google Shape;596;p23"/>
          <p:cNvSpPr/>
          <p:nvPr/>
        </p:nvSpPr>
        <p:spPr>
          <a:xfrm>
            <a:off x="2609850" y="2857500"/>
            <a:ext cx="1314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220"/>
                </a:solidFill>
              </a:rPr>
              <a:t>Aktar</a:t>
            </a:r>
            <a:endParaRPr/>
          </a:p>
        </p:txBody>
      </p:sp>
      <p:sp>
        <p:nvSpPr>
          <p:cNvPr id="597" name="Google Shape;597;p23"/>
          <p:cNvSpPr/>
          <p:nvPr/>
        </p:nvSpPr>
        <p:spPr>
          <a:xfrm>
            <a:off x="2609850" y="3476625"/>
            <a:ext cx="1314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06D"/>
                </a:solidFill>
              </a:rPr>
              <a:t>TLS kullan</a:t>
            </a:r>
            <a:endParaRPr/>
          </a:p>
        </p:txBody>
      </p:sp>
      <p:sp>
        <p:nvSpPr>
          <p:cNvPr id="598" name="Google Shape;598;p23"/>
          <p:cNvSpPr/>
          <p:nvPr/>
        </p:nvSpPr>
        <p:spPr>
          <a:xfrm>
            <a:off x="4343400" y="2095500"/>
            <a:ext cx="1657350" cy="2238375"/>
          </a:xfrm>
          <a:prstGeom prst="roundRect">
            <a:avLst>
              <a:gd fmla="val 6897" name="adj"/>
            </a:avLst>
          </a:prstGeom>
          <a:solidFill>
            <a:srgbClr val="E8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3"/>
          <p:cNvSpPr/>
          <p:nvPr/>
        </p:nvSpPr>
        <p:spPr>
          <a:xfrm>
            <a:off x="4514850" y="2286000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775E6"/>
                </a:solidFill>
              </a:rPr>
              <a:t>3</a:t>
            </a:r>
            <a:endParaRPr/>
          </a:p>
        </p:txBody>
      </p:sp>
      <p:sp>
        <p:nvSpPr>
          <p:cNvPr id="600" name="Google Shape;600;p23"/>
          <p:cNvSpPr/>
          <p:nvPr/>
        </p:nvSpPr>
        <p:spPr>
          <a:xfrm>
            <a:off x="4514850" y="2857500"/>
            <a:ext cx="1314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220"/>
                </a:solidFill>
              </a:rPr>
              <a:t>Sakla</a:t>
            </a:r>
            <a:endParaRPr/>
          </a:p>
        </p:txBody>
      </p:sp>
      <p:sp>
        <p:nvSpPr>
          <p:cNvPr id="601" name="Google Shape;601;p23"/>
          <p:cNvSpPr/>
          <p:nvPr/>
        </p:nvSpPr>
        <p:spPr>
          <a:xfrm>
            <a:off x="4514850" y="3476625"/>
            <a:ext cx="1314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06D"/>
                </a:solidFill>
              </a:rPr>
              <a:t>Şifrele</a:t>
            </a:r>
            <a:endParaRPr/>
          </a:p>
        </p:txBody>
      </p:sp>
      <p:sp>
        <p:nvSpPr>
          <p:cNvPr id="602" name="Google Shape;602;p23"/>
          <p:cNvSpPr/>
          <p:nvPr/>
        </p:nvSpPr>
        <p:spPr>
          <a:xfrm>
            <a:off x="6248400" y="2095500"/>
            <a:ext cx="1657350" cy="2238375"/>
          </a:xfrm>
          <a:prstGeom prst="roundRect">
            <a:avLst>
              <a:gd fmla="val 6897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3"/>
          <p:cNvSpPr/>
          <p:nvPr/>
        </p:nvSpPr>
        <p:spPr>
          <a:xfrm>
            <a:off x="6419850" y="2286000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775E6"/>
                </a:solidFill>
              </a:rPr>
              <a:t>4</a:t>
            </a:r>
            <a:endParaRPr/>
          </a:p>
        </p:txBody>
      </p:sp>
      <p:sp>
        <p:nvSpPr>
          <p:cNvPr id="604" name="Google Shape;604;p23"/>
          <p:cNvSpPr/>
          <p:nvPr/>
        </p:nvSpPr>
        <p:spPr>
          <a:xfrm>
            <a:off x="6419850" y="2857500"/>
            <a:ext cx="1314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220"/>
                </a:solidFill>
              </a:rPr>
              <a:t>Kullan</a:t>
            </a:r>
            <a:endParaRPr/>
          </a:p>
        </p:txBody>
      </p:sp>
      <p:sp>
        <p:nvSpPr>
          <p:cNvPr id="605" name="Google Shape;605;p23"/>
          <p:cNvSpPr/>
          <p:nvPr/>
        </p:nvSpPr>
        <p:spPr>
          <a:xfrm>
            <a:off x="6419850" y="3476625"/>
            <a:ext cx="1314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06D"/>
                </a:solidFill>
              </a:rPr>
              <a:t>En az yetki</a:t>
            </a:r>
            <a:endParaRPr/>
          </a:p>
        </p:txBody>
      </p:sp>
      <p:sp>
        <p:nvSpPr>
          <p:cNvPr id="606" name="Google Shape;606;p23"/>
          <p:cNvSpPr/>
          <p:nvPr/>
        </p:nvSpPr>
        <p:spPr>
          <a:xfrm>
            <a:off x="8153400" y="2095500"/>
            <a:ext cx="1657350" cy="2238375"/>
          </a:xfrm>
          <a:prstGeom prst="roundRect">
            <a:avLst>
              <a:gd fmla="val 6897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3"/>
          <p:cNvSpPr/>
          <p:nvPr/>
        </p:nvSpPr>
        <p:spPr>
          <a:xfrm>
            <a:off x="8324850" y="2286000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775E6"/>
                </a:solidFill>
              </a:rPr>
              <a:t>5</a:t>
            </a:r>
            <a:endParaRPr/>
          </a:p>
        </p:txBody>
      </p:sp>
      <p:sp>
        <p:nvSpPr>
          <p:cNvPr id="608" name="Google Shape;608;p23"/>
          <p:cNvSpPr/>
          <p:nvPr/>
        </p:nvSpPr>
        <p:spPr>
          <a:xfrm>
            <a:off x="8324850" y="2857500"/>
            <a:ext cx="1314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220"/>
                </a:solidFill>
              </a:rPr>
              <a:t>Paylaş</a:t>
            </a:r>
            <a:endParaRPr/>
          </a:p>
        </p:txBody>
      </p:sp>
      <p:sp>
        <p:nvSpPr>
          <p:cNvPr id="609" name="Google Shape;609;p23"/>
          <p:cNvSpPr/>
          <p:nvPr/>
        </p:nvSpPr>
        <p:spPr>
          <a:xfrm>
            <a:off x="8324850" y="3476625"/>
            <a:ext cx="1314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06D"/>
                </a:solidFill>
              </a:rPr>
              <a:t>Kaydet</a:t>
            </a:r>
            <a:endParaRPr/>
          </a:p>
        </p:txBody>
      </p:sp>
      <p:sp>
        <p:nvSpPr>
          <p:cNvPr id="610" name="Google Shape;610;p23"/>
          <p:cNvSpPr/>
          <p:nvPr/>
        </p:nvSpPr>
        <p:spPr>
          <a:xfrm>
            <a:off x="10058400" y="2095500"/>
            <a:ext cx="1657350" cy="2238375"/>
          </a:xfrm>
          <a:prstGeom prst="roundRect">
            <a:avLst>
              <a:gd fmla="val 6897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3"/>
          <p:cNvSpPr/>
          <p:nvPr/>
        </p:nvSpPr>
        <p:spPr>
          <a:xfrm>
            <a:off x="10229850" y="2286000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775E6"/>
                </a:solidFill>
              </a:rPr>
              <a:t>6</a:t>
            </a:r>
            <a:endParaRPr/>
          </a:p>
        </p:txBody>
      </p:sp>
      <p:sp>
        <p:nvSpPr>
          <p:cNvPr id="612" name="Google Shape;612;p23"/>
          <p:cNvSpPr/>
          <p:nvPr/>
        </p:nvSpPr>
        <p:spPr>
          <a:xfrm>
            <a:off x="10229850" y="2857500"/>
            <a:ext cx="1314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220"/>
                </a:solidFill>
              </a:rPr>
              <a:t>Sil</a:t>
            </a:r>
            <a:endParaRPr/>
          </a:p>
        </p:txBody>
      </p:sp>
      <p:sp>
        <p:nvSpPr>
          <p:cNvPr id="613" name="Google Shape;613;p23"/>
          <p:cNvSpPr/>
          <p:nvPr/>
        </p:nvSpPr>
        <p:spPr>
          <a:xfrm>
            <a:off x="10229850" y="3476625"/>
            <a:ext cx="1314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06D"/>
                </a:solidFill>
              </a:rPr>
              <a:t>Doğrula</a:t>
            </a:r>
            <a:endParaRPr/>
          </a:p>
        </p:txBody>
      </p:sp>
      <p:sp>
        <p:nvSpPr>
          <p:cNvPr id="614" name="Google Shape;614;p23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23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4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ŞİFRELEME</a:t>
            </a:r>
            <a:endParaRPr/>
          </a:p>
        </p:txBody>
      </p:sp>
      <p:sp>
        <p:nvSpPr>
          <p:cNvPr id="621" name="Google Shape;621;p24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Şifreleme tek başına yetmez; anahtar kontrolü belirleyicidir</a:t>
            </a:r>
            <a:endParaRPr/>
          </a:p>
        </p:txBody>
      </p:sp>
      <p:cxnSp>
        <p:nvCxnSpPr>
          <p:cNvPr id="622" name="Google Shape;622;p24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3" name="Google Shape;623;p24"/>
          <p:cNvSpPr/>
          <p:nvPr/>
        </p:nvSpPr>
        <p:spPr>
          <a:xfrm>
            <a:off x="952500" y="1952625"/>
            <a:ext cx="4000500" cy="514350"/>
          </a:xfrm>
          <a:prstGeom prst="roundRect">
            <a:avLst>
              <a:gd fmla="val 22222" name="adj"/>
            </a:avLst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4"/>
          <p:cNvSpPr/>
          <p:nvPr/>
        </p:nvSpPr>
        <p:spPr>
          <a:xfrm>
            <a:off x="1066800" y="2066925"/>
            <a:ext cx="37719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Aktarım sırasında: TLS</a:t>
            </a:r>
            <a:endParaRPr/>
          </a:p>
        </p:txBody>
      </p:sp>
      <p:sp>
        <p:nvSpPr>
          <p:cNvPr id="625" name="Google Shape;625;p24"/>
          <p:cNvSpPr/>
          <p:nvPr/>
        </p:nvSpPr>
        <p:spPr>
          <a:xfrm>
            <a:off x="952500" y="2714625"/>
            <a:ext cx="4000500" cy="514350"/>
          </a:xfrm>
          <a:prstGeom prst="roundRect">
            <a:avLst>
              <a:gd fmla="val 22222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4"/>
          <p:cNvSpPr/>
          <p:nvPr/>
        </p:nvSpPr>
        <p:spPr>
          <a:xfrm>
            <a:off x="1066800" y="2828925"/>
            <a:ext cx="37719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Depolamada: disk / nesne / DB</a:t>
            </a:r>
            <a:endParaRPr/>
          </a:p>
        </p:txBody>
      </p:sp>
      <p:sp>
        <p:nvSpPr>
          <p:cNvPr id="627" name="Google Shape;627;p24"/>
          <p:cNvSpPr/>
          <p:nvPr/>
        </p:nvSpPr>
        <p:spPr>
          <a:xfrm>
            <a:off x="952500" y="3476625"/>
            <a:ext cx="4000500" cy="514350"/>
          </a:xfrm>
          <a:prstGeom prst="roundRect">
            <a:avLst>
              <a:gd fmla="val 22222" name="adj"/>
            </a:avLst>
          </a:prstGeom>
          <a:solidFill>
            <a:srgbClr val="28A8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4"/>
          <p:cNvSpPr/>
          <p:nvPr/>
        </p:nvSpPr>
        <p:spPr>
          <a:xfrm>
            <a:off x="1066800" y="3590925"/>
            <a:ext cx="37719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Yedeklerde: ayrı anahtar ve erişim</a:t>
            </a:r>
            <a:endParaRPr/>
          </a:p>
        </p:txBody>
      </p:sp>
      <p:sp>
        <p:nvSpPr>
          <p:cNvPr id="629" name="Google Shape;629;p24"/>
          <p:cNvSpPr/>
          <p:nvPr/>
        </p:nvSpPr>
        <p:spPr>
          <a:xfrm>
            <a:off x="6858000" y="1809750"/>
            <a:ext cx="3810000" cy="2714625"/>
          </a:xfrm>
          <a:prstGeom prst="roundRect">
            <a:avLst>
              <a:gd fmla="val 4211" name="adj"/>
            </a:avLst>
          </a:prstGeom>
          <a:solidFill>
            <a:srgbClr val="E8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4"/>
          <p:cNvSpPr/>
          <p:nvPr/>
        </p:nvSpPr>
        <p:spPr>
          <a:xfrm>
            <a:off x="7191375" y="2143125"/>
            <a:ext cx="3143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775E6"/>
                </a:solidFill>
              </a:rPr>
              <a:t>Anahtar yönetimi</a:t>
            </a:r>
            <a:endParaRPr/>
          </a:p>
        </p:txBody>
      </p:sp>
      <p:sp>
        <p:nvSpPr>
          <p:cNvPr id="631" name="Google Shape;631;p24"/>
          <p:cNvSpPr/>
          <p:nvPr/>
        </p:nvSpPr>
        <p:spPr>
          <a:xfrm>
            <a:off x="7334250" y="2809875"/>
            <a:ext cx="28575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02A43"/>
                </a:solidFill>
              </a:rPr>
              <a:t>KMS / HSM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02A43"/>
                </a:solidFill>
              </a:rPr>
              <a:t>Düzenli rotasyon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02A43"/>
                </a:solidFill>
              </a:rPr>
              <a:t>Görev ayrılığı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02A43"/>
                </a:solidFill>
              </a:rPr>
              <a:t>Erişim kayıtları</a:t>
            </a:r>
            <a:endParaRPr/>
          </a:p>
        </p:txBody>
      </p:sp>
      <p:sp>
        <p:nvSpPr>
          <p:cNvPr id="632" name="Google Shape;632;p24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24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5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KİMLİK &amp; ERİŞİM</a:t>
            </a:r>
            <a:endParaRPr/>
          </a:p>
        </p:txBody>
      </p:sp>
      <p:sp>
        <p:nvSpPr>
          <p:cNvPr id="639" name="Google Shape;639;p25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En büyük güvenlik sınırı kimlik ve yetkidir</a:t>
            </a:r>
            <a:endParaRPr/>
          </a:p>
        </p:txBody>
      </p:sp>
      <p:cxnSp>
        <p:nvCxnSpPr>
          <p:cNvPr id="640" name="Google Shape;640;p25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1" name="Google Shape;641;p25"/>
          <p:cNvSpPr/>
          <p:nvPr/>
        </p:nvSpPr>
        <p:spPr>
          <a:xfrm>
            <a:off x="762000" y="1666875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5"/>
          <p:cNvSpPr/>
          <p:nvPr/>
        </p:nvSpPr>
        <p:spPr>
          <a:xfrm>
            <a:off x="1047750" y="1571625"/>
            <a:ext cx="6572250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MFA: özellikle yönetici ve uzaktan erişim hesaplarında</a:t>
            </a:r>
            <a:endParaRPr/>
          </a:p>
        </p:txBody>
      </p:sp>
      <p:sp>
        <p:nvSpPr>
          <p:cNvPr id="643" name="Google Shape;643;p25"/>
          <p:cNvSpPr/>
          <p:nvPr/>
        </p:nvSpPr>
        <p:spPr>
          <a:xfrm>
            <a:off x="762000" y="238125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5"/>
          <p:cNvSpPr/>
          <p:nvPr/>
        </p:nvSpPr>
        <p:spPr>
          <a:xfrm>
            <a:off x="1047750" y="2286000"/>
            <a:ext cx="6572250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En az yetki: sadece gereken rol ve süre kadar erişim</a:t>
            </a:r>
            <a:endParaRPr/>
          </a:p>
        </p:txBody>
      </p:sp>
      <p:sp>
        <p:nvSpPr>
          <p:cNvPr id="645" name="Google Shape;645;p25"/>
          <p:cNvSpPr/>
          <p:nvPr/>
        </p:nvSpPr>
        <p:spPr>
          <a:xfrm>
            <a:off x="762000" y="3095625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5"/>
          <p:cNvSpPr/>
          <p:nvPr/>
        </p:nvSpPr>
        <p:spPr>
          <a:xfrm>
            <a:off x="1047750" y="3000375"/>
            <a:ext cx="6572250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Ayrıcalıklı erişim: onay, süre sınırı ve oturum kaydı</a:t>
            </a:r>
            <a:endParaRPr/>
          </a:p>
        </p:txBody>
      </p:sp>
      <p:sp>
        <p:nvSpPr>
          <p:cNvPr id="647" name="Google Shape;647;p25"/>
          <p:cNvSpPr/>
          <p:nvPr/>
        </p:nvSpPr>
        <p:spPr>
          <a:xfrm>
            <a:off x="762000" y="381000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5"/>
          <p:cNvSpPr/>
          <p:nvPr/>
        </p:nvSpPr>
        <p:spPr>
          <a:xfrm>
            <a:off x="1047750" y="3714750"/>
            <a:ext cx="6572250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Servis hesapları: kısa ömürlü kimlik bilgileri</a:t>
            </a:r>
            <a:endParaRPr/>
          </a:p>
        </p:txBody>
      </p:sp>
      <p:sp>
        <p:nvSpPr>
          <p:cNvPr id="649" name="Google Shape;649;p25"/>
          <p:cNvSpPr/>
          <p:nvPr/>
        </p:nvSpPr>
        <p:spPr>
          <a:xfrm>
            <a:off x="762000" y="4524375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5"/>
          <p:cNvSpPr/>
          <p:nvPr/>
        </p:nvSpPr>
        <p:spPr>
          <a:xfrm>
            <a:off x="1047750" y="4429125"/>
            <a:ext cx="6572250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Düzenli yetki gözden geçirme ve hesap temizliği</a:t>
            </a:r>
            <a:endParaRPr/>
          </a:p>
        </p:txBody>
      </p:sp>
      <p:sp>
        <p:nvSpPr>
          <p:cNvPr id="651" name="Google Shape;651;p25"/>
          <p:cNvSpPr/>
          <p:nvPr/>
        </p:nvSpPr>
        <p:spPr>
          <a:xfrm>
            <a:off x="8096250" y="2047875"/>
            <a:ext cx="2667000" cy="2476500"/>
          </a:xfrm>
          <a:prstGeom prst="roundRect">
            <a:avLst>
              <a:gd fmla="val 4615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5"/>
          <p:cNvSpPr/>
          <p:nvPr/>
        </p:nvSpPr>
        <p:spPr>
          <a:xfrm>
            <a:off x="8334375" y="2333625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63CBE8"/>
                </a:solidFill>
              </a:rPr>
              <a:t>Zero Trust ilkesi</a:t>
            </a:r>
            <a:endParaRPr/>
          </a:p>
        </p:txBody>
      </p:sp>
      <p:sp>
        <p:nvSpPr>
          <p:cNvPr id="653" name="Google Shape;653;p25"/>
          <p:cNvSpPr/>
          <p:nvPr/>
        </p:nvSpPr>
        <p:spPr>
          <a:xfrm>
            <a:off x="8334375" y="3000375"/>
            <a:ext cx="21907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FFFFF"/>
                </a:solidFill>
              </a:rPr>
              <a:t>Asla varsayma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FFFFF"/>
                </a:solidFill>
              </a:rPr>
              <a:t>Her isteği doğrula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FFFFF"/>
                </a:solidFill>
              </a:rPr>
              <a:t>Erişimi sınırla</a:t>
            </a:r>
            <a:endParaRPr/>
          </a:p>
        </p:txBody>
      </p:sp>
      <p:sp>
        <p:nvSpPr>
          <p:cNvPr id="654" name="Google Shape;654;p25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25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6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YEDEK &amp; FELAKET KURTARMA</a:t>
            </a:r>
            <a:endParaRPr/>
          </a:p>
        </p:txBody>
      </p:sp>
      <p:sp>
        <p:nvSpPr>
          <p:cNvPr id="661" name="Google Shape;661;p26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Yedek, geri döndürülebildiğinde değerlidir</a:t>
            </a:r>
            <a:endParaRPr/>
          </a:p>
        </p:txBody>
      </p:sp>
      <p:cxnSp>
        <p:nvCxnSpPr>
          <p:cNvPr id="662" name="Google Shape;662;p26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3" name="Google Shape;663;p26"/>
          <p:cNvSpPr/>
          <p:nvPr/>
        </p:nvSpPr>
        <p:spPr>
          <a:xfrm>
            <a:off x="628650" y="2047875"/>
            <a:ext cx="2571750" cy="2571750"/>
          </a:xfrm>
          <a:prstGeom prst="roundRect">
            <a:avLst>
              <a:gd fmla="val 4444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800100" y="2333625"/>
            <a:ext cx="2190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775E6"/>
                </a:solidFill>
              </a:rPr>
              <a:t>3 kopya</a:t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800100" y="3190875"/>
            <a:ext cx="2190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Üretim + iki yedek</a:t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3486150" y="2047875"/>
            <a:ext cx="2571750" cy="2571750"/>
          </a:xfrm>
          <a:prstGeom prst="roundRect">
            <a:avLst>
              <a:gd fmla="val 4444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3657600" y="2333625"/>
            <a:ext cx="2190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775E6"/>
                </a:solidFill>
              </a:rPr>
              <a:t>2 ortam</a:t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3657600" y="3190875"/>
            <a:ext cx="2190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Farklı teknoloji</a:t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6343650" y="2047875"/>
            <a:ext cx="2571750" cy="2571750"/>
          </a:xfrm>
          <a:prstGeom prst="roundRect">
            <a:avLst>
              <a:gd fmla="val 4444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6"/>
          <p:cNvSpPr/>
          <p:nvPr/>
        </p:nvSpPr>
        <p:spPr>
          <a:xfrm>
            <a:off x="6515100" y="2333625"/>
            <a:ext cx="2190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775E6"/>
                </a:solidFill>
              </a:rPr>
              <a:t>1 uzak kopya</a:t>
            </a:r>
            <a:endParaRPr/>
          </a:p>
        </p:txBody>
      </p:sp>
      <p:sp>
        <p:nvSpPr>
          <p:cNvPr id="671" name="Google Shape;671;p26"/>
          <p:cNvSpPr/>
          <p:nvPr/>
        </p:nvSpPr>
        <p:spPr>
          <a:xfrm>
            <a:off x="6515100" y="3190875"/>
            <a:ext cx="2190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Ayrı bölge / hesap</a:t>
            </a:r>
            <a:endParaRPr/>
          </a:p>
        </p:txBody>
      </p:sp>
      <p:sp>
        <p:nvSpPr>
          <p:cNvPr id="672" name="Google Shape;672;p26"/>
          <p:cNvSpPr/>
          <p:nvPr/>
        </p:nvSpPr>
        <p:spPr>
          <a:xfrm>
            <a:off x="9201150" y="2047875"/>
            <a:ext cx="2571750" cy="2571750"/>
          </a:xfrm>
          <a:prstGeom prst="roundRect">
            <a:avLst>
              <a:gd fmla="val 4444" name="adj"/>
            </a:avLst>
          </a:prstGeom>
          <a:solidFill>
            <a:srgbClr val="E8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6"/>
          <p:cNvSpPr/>
          <p:nvPr/>
        </p:nvSpPr>
        <p:spPr>
          <a:xfrm>
            <a:off x="9372600" y="2333625"/>
            <a:ext cx="2190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775E6"/>
                </a:solidFill>
              </a:rPr>
              <a:t>0 hata</a:t>
            </a:r>
            <a:endParaRPr/>
          </a:p>
        </p:txBody>
      </p:sp>
      <p:sp>
        <p:nvSpPr>
          <p:cNvPr id="674" name="Google Shape;674;p26"/>
          <p:cNvSpPr/>
          <p:nvPr/>
        </p:nvSpPr>
        <p:spPr>
          <a:xfrm>
            <a:off x="9372600" y="3190875"/>
            <a:ext cx="2190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Geri dönüş testi</a:t>
            </a:r>
            <a:endParaRPr/>
          </a:p>
        </p:txBody>
      </p:sp>
      <p:sp>
        <p:nvSpPr>
          <p:cNvPr id="675" name="Google Shape;675;p26"/>
          <p:cNvSpPr/>
          <p:nvPr/>
        </p:nvSpPr>
        <p:spPr>
          <a:xfrm>
            <a:off x="1000125" y="5191125"/>
            <a:ext cx="10191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2A43"/>
                </a:solidFill>
              </a:rPr>
              <a:t>RPO veri kaybı sınırını, RTO geri dönüş süresini tanımlar.</a:t>
            </a:r>
            <a:endParaRPr/>
          </a:p>
        </p:txBody>
      </p:sp>
      <p:sp>
        <p:nvSpPr>
          <p:cNvPr id="676" name="Google Shape;676;p26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26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7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UYUMLULUK</a:t>
            </a:r>
            <a:endParaRPr/>
          </a:p>
        </p:txBody>
      </p:sp>
      <p:sp>
        <p:nvSpPr>
          <p:cNvPr id="683" name="Google Shape;683;p27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Uyumluluk, verinin nerede ve kim tarafından işlendiğini sorar</a:t>
            </a:r>
            <a:endParaRPr/>
          </a:p>
        </p:txBody>
      </p:sp>
      <p:cxnSp>
        <p:nvCxnSpPr>
          <p:cNvPr id="684" name="Google Shape;684;p27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5" name="Google Shape;685;p27"/>
          <p:cNvSpPr/>
          <p:nvPr/>
        </p:nvSpPr>
        <p:spPr>
          <a:xfrm>
            <a:off x="762000" y="1619250"/>
            <a:ext cx="428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775E6"/>
                </a:solidFill>
              </a:rPr>
              <a:t>01</a:t>
            </a:r>
            <a:endParaRPr/>
          </a:p>
        </p:txBody>
      </p:sp>
      <p:sp>
        <p:nvSpPr>
          <p:cNvPr id="686" name="Google Shape;686;p27"/>
          <p:cNvSpPr/>
          <p:nvPr/>
        </p:nvSpPr>
        <p:spPr>
          <a:xfrm>
            <a:off x="1381125" y="161925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220"/>
                </a:solidFill>
              </a:rPr>
              <a:t>Veri konumu</a:t>
            </a:r>
            <a:endParaRPr/>
          </a:p>
        </p:txBody>
      </p:sp>
      <p:sp>
        <p:nvSpPr>
          <p:cNvPr id="687" name="Google Shape;687;p27"/>
          <p:cNvSpPr/>
          <p:nvPr/>
        </p:nvSpPr>
        <p:spPr>
          <a:xfrm>
            <a:off x="3714750" y="1619250"/>
            <a:ext cx="6667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Ülke, bölge ve veri merkezi</a:t>
            </a:r>
            <a:endParaRPr/>
          </a:p>
        </p:txBody>
      </p:sp>
      <p:sp>
        <p:nvSpPr>
          <p:cNvPr id="688" name="Google Shape;688;p27"/>
          <p:cNvSpPr/>
          <p:nvPr/>
        </p:nvSpPr>
        <p:spPr>
          <a:xfrm>
            <a:off x="762000" y="2419350"/>
            <a:ext cx="428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775E6"/>
                </a:solidFill>
              </a:rPr>
              <a:t>02</a:t>
            </a:r>
            <a:endParaRPr/>
          </a:p>
        </p:txBody>
      </p:sp>
      <p:sp>
        <p:nvSpPr>
          <p:cNvPr id="689" name="Google Shape;689;p27"/>
          <p:cNvSpPr/>
          <p:nvPr/>
        </p:nvSpPr>
        <p:spPr>
          <a:xfrm>
            <a:off x="1381125" y="241935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220"/>
                </a:solidFill>
              </a:rPr>
              <a:t>Veri sahibi</a:t>
            </a:r>
            <a:endParaRPr/>
          </a:p>
        </p:txBody>
      </p:sp>
      <p:sp>
        <p:nvSpPr>
          <p:cNvPr id="690" name="Google Shape;690;p27"/>
          <p:cNvSpPr/>
          <p:nvPr/>
        </p:nvSpPr>
        <p:spPr>
          <a:xfrm>
            <a:off x="3714750" y="2419350"/>
            <a:ext cx="6667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Sorumlu ve işleyen rolleri</a:t>
            </a:r>
            <a:endParaRPr/>
          </a:p>
        </p:txBody>
      </p:sp>
      <p:sp>
        <p:nvSpPr>
          <p:cNvPr id="691" name="Google Shape;691;p27"/>
          <p:cNvSpPr/>
          <p:nvPr/>
        </p:nvSpPr>
        <p:spPr>
          <a:xfrm>
            <a:off x="762000" y="3219450"/>
            <a:ext cx="428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775E6"/>
                </a:solidFill>
              </a:rPr>
              <a:t>03</a:t>
            </a:r>
            <a:endParaRPr/>
          </a:p>
        </p:txBody>
      </p:sp>
      <p:sp>
        <p:nvSpPr>
          <p:cNvPr id="692" name="Google Shape;692;p27"/>
          <p:cNvSpPr/>
          <p:nvPr/>
        </p:nvSpPr>
        <p:spPr>
          <a:xfrm>
            <a:off x="1381125" y="321945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220"/>
                </a:solidFill>
              </a:rPr>
              <a:t>Saklama süresi</a:t>
            </a:r>
            <a:endParaRPr/>
          </a:p>
        </p:txBody>
      </p:sp>
      <p:sp>
        <p:nvSpPr>
          <p:cNvPr id="693" name="Google Shape;693;p27"/>
          <p:cNvSpPr/>
          <p:nvPr/>
        </p:nvSpPr>
        <p:spPr>
          <a:xfrm>
            <a:off x="3714750" y="3219450"/>
            <a:ext cx="6667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Politika ve yasal zorunluluk</a:t>
            </a:r>
            <a:endParaRPr/>
          </a:p>
        </p:txBody>
      </p:sp>
      <p:sp>
        <p:nvSpPr>
          <p:cNvPr id="694" name="Google Shape;694;p27"/>
          <p:cNvSpPr/>
          <p:nvPr/>
        </p:nvSpPr>
        <p:spPr>
          <a:xfrm>
            <a:off x="762000" y="4019550"/>
            <a:ext cx="428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775E6"/>
                </a:solidFill>
              </a:rPr>
              <a:t>04</a:t>
            </a:r>
            <a:endParaRPr/>
          </a:p>
        </p:txBody>
      </p:sp>
      <p:sp>
        <p:nvSpPr>
          <p:cNvPr id="695" name="Google Shape;695;p27"/>
          <p:cNvSpPr/>
          <p:nvPr/>
        </p:nvSpPr>
        <p:spPr>
          <a:xfrm>
            <a:off x="1381125" y="401955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220"/>
                </a:solidFill>
              </a:rPr>
              <a:t>Erişim kayıtları</a:t>
            </a:r>
            <a:endParaRPr/>
          </a:p>
        </p:txBody>
      </p:sp>
      <p:sp>
        <p:nvSpPr>
          <p:cNvPr id="696" name="Google Shape;696;p27"/>
          <p:cNvSpPr/>
          <p:nvPr/>
        </p:nvSpPr>
        <p:spPr>
          <a:xfrm>
            <a:off x="3714750" y="4019550"/>
            <a:ext cx="6667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Kim, ne zaman, hangi veriye?</a:t>
            </a:r>
            <a:endParaRPr/>
          </a:p>
        </p:txBody>
      </p:sp>
      <p:sp>
        <p:nvSpPr>
          <p:cNvPr id="697" name="Google Shape;697;p27"/>
          <p:cNvSpPr/>
          <p:nvPr/>
        </p:nvSpPr>
        <p:spPr>
          <a:xfrm>
            <a:off x="762000" y="4819650"/>
            <a:ext cx="428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775E6"/>
                </a:solidFill>
              </a:rPr>
              <a:t>05</a:t>
            </a:r>
            <a:endParaRPr/>
          </a:p>
        </p:txBody>
      </p:sp>
      <p:sp>
        <p:nvSpPr>
          <p:cNvPr id="698" name="Google Shape;698;p27"/>
          <p:cNvSpPr/>
          <p:nvPr/>
        </p:nvSpPr>
        <p:spPr>
          <a:xfrm>
            <a:off x="1381125" y="481965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220"/>
                </a:solidFill>
              </a:rPr>
              <a:t>Tedarikçi riski</a:t>
            </a:r>
            <a:endParaRPr/>
          </a:p>
        </p:txBody>
      </p:sp>
      <p:sp>
        <p:nvSpPr>
          <p:cNvPr id="699" name="Google Shape;699;p27"/>
          <p:cNvSpPr/>
          <p:nvPr/>
        </p:nvSpPr>
        <p:spPr>
          <a:xfrm>
            <a:off x="3714750" y="4819650"/>
            <a:ext cx="6667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Alt işleyenler ve sözleşmeler</a:t>
            </a:r>
            <a:endParaRPr/>
          </a:p>
        </p:txBody>
      </p:sp>
      <p:sp>
        <p:nvSpPr>
          <p:cNvPr id="700" name="Google Shape;700;p27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27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8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GÜVENLİK KONTROL LİSTESİ</a:t>
            </a:r>
            <a:endParaRPr/>
          </a:p>
        </p:txBody>
      </p:sp>
      <p:sp>
        <p:nvSpPr>
          <p:cNvPr id="707" name="Google Shape;707;p28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Güvenli bulut için sekiz temel kontrol</a:t>
            </a:r>
            <a:endParaRPr/>
          </a:p>
        </p:txBody>
      </p:sp>
      <p:cxnSp>
        <p:nvCxnSpPr>
          <p:cNvPr id="708" name="Google Shape;708;p28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9" name="Google Shape;709;p28"/>
          <p:cNvSpPr/>
          <p:nvPr/>
        </p:nvSpPr>
        <p:spPr>
          <a:xfrm>
            <a:off x="628650" y="1762125"/>
            <a:ext cx="2571750" cy="1238250"/>
          </a:xfrm>
          <a:prstGeom prst="roundRect">
            <a:avLst>
              <a:gd fmla="val 9231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8"/>
          <p:cNvSpPr/>
          <p:nvPr/>
        </p:nvSpPr>
        <p:spPr>
          <a:xfrm>
            <a:off x="800100" y="1933575"/>
            <a:ext cx="523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775E6"/>
                </a:solidFill>
              </a:rPr>
              <a:t>01</a:t>
            </a:r>
            <a:endParaRPr/>
          </a:p>
        </p:txBody>
      </p:sp>
      <p:sp>
        <p:nvSpPr>
          <p:cNvPr id="711" name="Google Shape;711;p28"/>
          <p:cNvSpPr/>
          <p:nvPr/>
        </p:nvSpPr>
        <p:spPr>
          <a:xfrm>
            <a:off x="800100" y="2352675"/>
            <a:ext cx="2190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220"/>
                </a:solidFill>
              </a:rPr>
              <a:t>Veri sınıflandırma</a:t>
            </a:r>
            <a:endParaRPr/>
          </a:p>
        </p:txBody>
      </p:sp>
      <p:sp>
        <p:nvSpPr>
          <p:cNvPr id="712" name="Google Shape;712;p28"/>
          <p:cNvSpPr/>
          <p:nvPr/>
        </p:nvSpPr>
        <p:spPr>
          <a:xfrm>
            <a:off x="3486150" y="1762125"/>
            <a:ext cx="2571750" cy="1238250"/>
          </a:xfrm>
          <a:prstGeom prst="roundRect">
            <a:avLst>
              <a:gd fmla="val 9231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8"/>
          <p:cNvSpPr/>
          <p:nvPr/>
        </p:nvSpPr>
        <p:spPr>
          <a:xfrm>
            <a:off x="3657600" y="1933575"/>
            <a:ext cx="523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775E6"/>
                </a:solidFill>
              </a:rPr>
              <a:t>02</a:t>
            </a:r>
            <a:endParaRPr/>
          </a:p>
        </p:txBody>
      </p:sp>
      <p:sp>
        <p:nvSpPr>
          <p:cNvPr id="714" name="Google Shape;714;p28"/>
          <p:cNvSpPr/>
          <p:nvPr/>
        </p:nvSpPr>
        <p:spPr>
          <a:xfrm>
            <a:off x="3657600" y="2352675"/>
            <a:ext cx="2190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220"/>
                </a:solidFill>
              </a:rPr>
              <a:t>MFA ve RBAC</a:t>
            </a:r>
            <a:endParaRPr/>
          </a:p>
        </p:txBody>
      </p:sp>
      <p:sp>
        <p:nvSpPr>
          <p:cNvPr id="715" name="Google Shape;715;p28"/>
          <p:cNvSpPr/>
          <p:nvPr/>
        </p:nvSpPr>
        <p:spPr>
          <a:xfrm>
            <a:off x="6343650" y="1762125"/>
            <a:ext cx="2571750" cy="1238250"/>
          </a:xfrm>
          <a:prstGeom prst="roundRect">
            <a:avLst>
              <a:gd fmla="val 9231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8"/>
          <p:cNvSpPr/>
          <p:nvPr/>
        </p:nvSpPr>
        <p:spPr>
          <a:xfrm>
            <a:off x="6515100" y="1933575"/>
            <a:ext cx="523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775E6"/>
                </a:solidFill>
              </a:rPr>
              <a:t>03</a:t>
            </a:r>
            <a:endParaRPr/>
          </a:p>
        </p:txBody>
      </p:sp>
      <p:sp>
        <p:nvSpPr>
          <p:cNvPr id="717" name="Google Shape;717;p28"/>
          <p:cNvSpPr/>
          <p:nvPr/>
        </p:nvSpPr>
        <p:spPr>
          <a:xfrm>
            <a:off x="6515100" y="2352675"/>
            <a:ext cx="2190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220"/>
                </a:solidFill>
              </a:rPr>
              <a:t>Şifreleme + KMS</a:t>
            </a:r>
            <a:endParaRPr/>
          </a:p>
        </p:txBody>
      </p:sp>
      <p:sp>
        <p:nvSpPr>
          <p:cNvPr id="718" name="Google Shape;718;p28"/>
          <p:cNvSpPr/>
          <p:nvPr/>
        </p:nvSpPr>
        <p:spPr>
          <a:xfrm>
            <a:off x="9201150" y="1762125"/>
            <a:ext cx="2571750" cy="1238250"/>
          </a:xfrm>
          <a:prstGeom prst="roundRect">
            <a:avLst>
              <a:gd fmla="val 9231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8"/>
          <p:cNvSpPr/>
          <p:nvPr/>
        </p:nvSpPr>
        <p:spPr>
          <a:xfrm>
            <a:off x="9372600" y="1933575"/>
            <a:ext cx="523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775E6"/>
                </a:solidFill>
              </a:rPr>
              <a:t>04</a:t>
            </a:r>
            <a:endParaRPr/>
          </a:p>
        </p:txBody>
      </p:sp>
      <p:sp>
        <p:nvSpPr>
          <p:cNvPr id="720" name="Google Shape;720;p28"/>
          <p:cNvSpPr/>
          <p:nvPr/>
        </p:nvSpPr>
        <p:spPr>
          <a:xfrm>
            <a:off x="9372600" y="2352675"/>
            <a:ext cx="2190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220"/>
                </a:solidFill>
              </a:rPr>
              <a:t>Ağ segmentasyonu</a:t>
            </a:r>
            <a:endParaRPr/>
          </a:p>
        </p:txBody>
      </p:sp>
      <p:sp>
        <p:nvSpPr>
          <p:cNvPr id="721" name="Google Shape;721;p28"/>
          <p:cNvSpPr/>
          <p:nvPr/>
        </p:nvSpPr>
        <p:spPr>
          <a:xfrm>
            <a:off x="628650" y="3476625"/>
            <a:ext cx="2571750" cy="1238250"/>
          </a:xfrm>
          <a:prstGeom prst="roundRect">
            <a:avLst>
              <a:gd fmla="val 9231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8"/>
          <p:cNvSpPr/>
          <p:nvPr/>
        </p:nvSpPr>
        <p:spPr>
          <a:xfrm>
            <a:off x="800100" y="3648075"/>
            <a:ext cx="523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775E6"/>
                </a:solidFill>
              </a:rPr>
              <a:t>05</a:t>
            </a:r>
            <a:endParaRPr/>
          </a:p>
        </p:txBody>
      </p:sp>
      <p:sp>
        <p:nvSpPr>
          <p:cNvPr id="723" name="Google Shape;723;p28"/>
          <p:cNvSpPr/>
          <p:nvPr/>
        </p:nvSpPr>
        <p:spPr>
          <a:xfrm>
            <a:off x="800100" y="4067175"/>
            <a:ext cx="2190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220"/>
                </a:solidFill>
              </a:rPr>
              <a:t>Log ve audit</a:t>
            </a:r>
            <a:endParaRPr/>
          </a:p>
        </p:txBody>
      </p:sp>
      <p:sp>
        <p:nvSpPr>
          <p:cNvPr id="724" name="Google Shape;724;p28"/>
          <p:cNvSpPr/>
          <p:nvPr/>
        </p:nvSpPr>
        <p:spPr>
          <a:xfrm>
            <a:off x="3486150" y="3476625"/>
            <a:ext cx="2571750" cy="1238250"/>
          </a:xfrm>
          <a:prstGeom prst="roundRect">
            <a:avLst>
              <a:gd fmla="val 9231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8"/>
          <p:cNvSpPr/>
          <p:nvPr/>
        </p:nvSpPr>
        <p:spPr>
          <a:xfrm>
            <a:off x="3657600" y="3648075"/>
            <a:ext cx="523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775E6"/>
                </a:solidFill>
              </a:rPr>
              <a:t>06</a:t>
            </a:r>
            <a:endParaRPr/>
          </a:p>
        </p:txBody>
      </p:sp>
      <p:sp>
        <p:nvSpPr>
          <p:cNvPr id="726" name="Google Shape;726;p28"/>
          <p:cNvSpPr/>
          <p:nvPr/>
        </p:nvSpPr>
        <p:spPr>
          <a:xfrm>
            <a:off x="3657600" y="4067175"/>
            <a:ext cx="2190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220"/>
                </a:solidFill>
              </a:rPr>
              <a:t>Zafiyet yönetimi</a:t>
            </a:r>
            <a:endParaRPr/>
          </a:p>
        </p:txBody>
      </p:sp>
      <p:sp>
        <p:nvSpPr>
          <p:cNvPr id="727" name="Google Shape;727;p28"/>
          <p:cNvSpPr/>
          <p:nvPr/>
        </p:nvSpPr>
        <p:spPr>
          <a:xfrm>
            <a:off x="6343650" y="3476625"/>
            <a:ext cx="2571750" cy="1238250"/>
          </a:xfrm>
          <a:prstGeom prst="roundRect">
            <a:avLst>
              <a:gd fmla="val 9231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8"/>
          <p:cNvSpPr/>
          <p:nvPr/>
        </p:nvSpPr>
        <p:spPr>
          <a:xfrm>
            <a:off x="6515100" y="3648075"/>
            <a:ext cx="523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775E6"/>
                </a:solidFill>
              </a:rPr>
              <a:t>07</a:t>
            </a:r>
            <a:endParaRPr/>
          </a:p>
        </p:txBody>
      </p:sp>
      <p:sp>
        <p:nvSpPr>
          <p:cNvPr id="729" name="Google Shape;729;p28"/>
          <p:cNvSpPr/>
          <p:nvPr/>
        </p:nvSpPr>
        <p:spPr>
          <a:xfrm>
            <a:off x="6515100" y="4067175"/>
            <a:ext cx="2190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220"/>
                </a:solidFill>
              </a:rPr>
              <a:t>Yedek + DR testi</a:t>
            </a:r>
            <a:endParaRPr/>
          </a:p>
        </p:txBody>
      </p:sp>
      <p:sp>
        <p:nvSpPr>
          <p:cNvPr id="730" name="Google Shape;730;p28"/>
          <p:cNvSpPr/>
          <p:nvPr/>
        </p:nvSpPr>
        <p:spPr>
          <a:xfrm>
            <a:off x="9201150" y="3476625"/>
            <a:ext cx="2571750" cy="1238250"/>
          </a:xfrm>
          <a:prstGeom prst="roundRect">
            <a:avLst>
              <a:gd fmla="val 9231" name="adj"/>
            </a:avLst>
          </a:prstGeom>
          <a:solidFill>
            <a:srgbClr val="E8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28"/>
          <p:cNvSpPr/>
          <p:nvPr/>
        </p:nvSpPr>
        <p:spPr>
          <a:xfrm>
            <a:off x="9372600" y="3648075"/>
            <a:ext cx="523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775E6"/>
                </a:solidFill>
              </a:rPr>
              <a:t>08</a:t>
            </a:r>
            <a:endParaRPr/>
          </a:p>
        </p:txBody>
      </p:sp>
      <p:sp>
        <p:nvSpPr>
          <p:cNvPr id="732" name="Google Shape;732;p28"/>
          <p:cNvSpPr/>
          <p:nvPr/>
        </p:nvSpPr>
        <p:spPr>
          <a:xfrm>
            <a:off x="9372600" y="4067175"/>
            <a:ext cx="2190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220"/>
                </a:solidFill>
              </a:rPr>
              <a:t>Olay müdahale planı</a:t>
            </a:r>
            <a:endParaRPr/>
          </a:p>
        </p:txBody>
      </p:sp>
      <p:sp>
        <p:nvSpPr>
          <p:cNvPr id="733" name="Google Shape;733;p28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28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9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OPERASYON</a:t>
            </a:r>
            <a:endParaRPr/>
          </a:p>
        </p:txBody>
      </p:sp>
      <p:sp>
        <p:nvSpPr>
          <p:cNvPr id="740" name="Google Shape;740;p29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Private cloud, 7/24 işletilen bir platform ürünüdür</a:t>
            </a:r>
            <a:endParaRPr/>
          </a:p>
        </p:txBody>
      </p:sp>
      <p:cxnSp>
        <p:nvCxnSpPr>
          <p:cNvPr id="741" name="Google Shape;741;p29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2" name="Google Shape;742;p29"/>
          <p:cNvSpPr/>
          <p:nvPr/>
        </p:nvSpPr>
        <p:spPr>
          <a:xfrm>
            <a:off x="762000" y="171450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9"/>
          <p:cNvSpPr/>
          <p:nvPr/>
        </p:nvSpPr>
        <p:spPr>
          <a:xfrm>
            <a:off x="1047750" y="1619250"/>
            <a:ext cx="61912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Gözlemleme: metrik, log, trace ve sentetik kontroller</a:t>
            </a:r>
            <a:endParaRPr/>
          </a:p>
        </p:txBody>
      </p:sp>
      <p:sp>
        <p:nvSpPr>
          <p:cNvPr id="744" name="Google Shape;744;p29"/>
          <p:cNvSpPr/>
          <p:nvPr/>
        </p:nvSpPr>
        <p:spPr>
          <a:xfrm>
            <a:off x="762000" y="2409825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9"/>
          <p:cNvSpPr/>
          <p:nvPr/>
        </p:nvSpPr>
        <p:spPr>
          <a:xfrm>
            <a:off x="1047750" y="2314575"/>
            <a:ext cx="61912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Yama ve sürüm yükseltme: test ortamı + geri dönüş planı</a:t>
            </a:r>
            <a:endParaRPr/>
          </a:p>
        </p:txBody>
      </p:sp>
      <p:sp>
        <p:nvSpPr>
          <p:cNvPr id="746" name="Google Shape;746;p29"/>
          <p:cNvSpPr/>
          <p:nvPr/>
        </p:nvSpPr>
        <p:spPr>
          <a:xfrm>
            <a:off x="762000" y="310515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9"/>
          <p:cNvSpPr/>
          <p:nvPr/>
        </p:nvSpPr>
        <p:spPr>
          <a:xfrm>
            <a:off x="1047750" y="3009900"/>
            <a:ext cx="61912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Kapasite: trend, kota, rezerv ve yeniden dengeleme</a:t>
            </a:r>
            <a:endParaRPr/>
          </a:p>
        </p:txBody>
      </p:sp>
      <p:sp>
        <p:nvSpPr>
          <p:cNvPr id="748" name="Google Shape;748;p29"/>
          <p:cNvSpPr/>
          <p:nvPr/>
        </p:nvSpPr>
        <p:spPr>
          <a:xfrm>
            <a:off x="762000" y="3800475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9"/>
          <p:cNvSpPr/>
          <p:nvPr/>
        </p:nvSpPr>
        <p:spPr>
          <a:xfrm>
            <a:off x="1047750" y="3705225"/>
            <a:ext cx="61912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Katalog: flavor, image, network ve servis yaşam döngüsü</a:t>
            </a:r>
            <a:endParaRPr/>
          </a:p>
        </p:txBody>
      </p:sp>
      <p:sp>
        <p:nvSpPr>
          <p:cNvPr id="750" name="Google Shape;750;p29"/>
          <p:cNvSpPr/>
          <p:nvPr/>
        </p:nvSpPr>
        <p:spPr>
          <a:xfrm>
            <a:off x="762000" y="4495800"/>
            <a:ext cx="133350" cy="133350"/>
          </a:xfrm>
          <a:prstGeom prst="ellipse">
            <a:avLst/>
          </a:prstGeom>
          <a:solidFill>
            <a:srgbClr val="277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9"/>
          <p:cNvSpPr/>
          <p:nvPr/>
        </p:nvSpPr>
        <p:spPr>
          <a:xfrm>
            <a:off x="1047750" y="4400550"/>
            <a:ext cx="61912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B1220"/>
                </a:solidFill>
              </a:rPr>
              <a:t>FinOps: chargeback/showback ve birim maliyet</a:t>
            </a:r>
            <a:endParaRPr/>
          </a:p>
        </p:txBody>
      </p:sp>
      <p:sp>
        <p:nvSpPr>
          <p:cNvPr id="752" name="Google Shape;752;p29"/>
          <p:cNvSpPr/>
          <p:nvPr/>
        </p:nvSpPr>
        <p:spPr>
          <a:xfrm>
            <a:off x="7858125" y="1952625"/>
            <a:ext cx="2905125" cy="2857500"/>
          </a:xfrm>
          <a:prstGeom prst="roundRect">
            <a:avLst>
              <a:gd fmla="val 4000" name="adj"/>
            </a:avLst>
          </a:prstGeom>
          <a:solidFill>
            <a:srgbClr val="E8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9"/>
          <p:cNvSpPr/>
          <p:nvPr/>
        </p:nvSpPr>
        <p:spPr>
          <a:xfrm>
            <a:off x="8096250" y="2286000"/>
            <a:ext cx="2428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775E6"/>
                </a:solidFill>
              </a:rPr>
              <a:t>Başarı ölçütü</a:t>
            </a:r>
            <a:endParaRPr/>
          </a:p>
        </p:txBody>
      </p:sp>
      <p:sp>
        <p:nvSpPr>
          <p:cNvPr id="754" name="Google Shape;754;p29"/>
          <p:cNvSpPr/>
          <p:nvPr/>
        </p:nvSpPr>
        <p:spPr>
          <a:xfrm>
            <a:off x="8172450" y="2952750"/>
            <a:ext cx="228600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02A43"/>
                </a:solidFill>
              </a:rPr>
              <a:t>Kullanılabilirlik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02A43"/>
                </a:solidFill>
              </a:rPr>
              <a:t>Teslim süresi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02A43"/>
                </a:solidFill>
              </a:rPr>
              <a:t>Birim maliyet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02A43"/>
                </a:solidFill>
              </a:rPr>
              <a:t>Müşteri memnuniyeti</a:t>
            </a:r>
            <a:endParaRPr/>
          </a:p>
        </p:txBody>
      </p:sp>
      <p:sp>
        <p:nvSpPr>
          <p:cNvPr id="755" name="Google Shape;755;p29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29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0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YOL HARİTASI</a:t>
            </a:r>
            <a:endParaRPr/>
          </a:p>
        </p:txBody>
      </p:sp>
      <p:sp>
        <p:nvSpPr>
          <p:cNvPr id="762" name="Google Shape;762;p30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90 günlük güvenli bulut yol haritası</a:t>
            </a:r>
            <a:endParaRPr/>
          </a:p>
        </p:txBody>
      </p:sp>
      <p:cxnSp>
        <p:nvCxnSpPr>
          <p:cNvPr id="763" name="Google Shape;763;p30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4" name="Google Shape;764;p30"/>
          <p:cNvSpPr/>
          <p:nvPr/>
        </p:nvSpPr>
        <p:spPr>
          <a:xfrm>
            <a:off x="809625" y="2000250"/>
            <a:ext cx="3333750" cy="2857500"/>
          </a:xfrm>
          <a:prstGeom prst="roundRect">
            <a:avLst>
              <a:gd fmla="val 4000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0"/>
          <p:cNvSpPr/>
          <p:nvPr/>
        </p:nvSpPr>
        <p:spPr>
          <a:xfrm>
            <a:off x="1019175" y="2286000"/>
            <a:ext cx="2857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775E6"/>
                </a:solidFill>
              </a:rPr>
              <a:t>0–30 gün</a:t>
            </a:r>
            <a:endParaRPr/>
          </a:p>
        </p:txBody>
      </p:sp>
      <p:sp>
        <p:nvSpPr>
          <p:cNvPr id="766" name="Google Shape;766;p30"/>
          <p:cNvSpPr/>
          <p:nvPr/>
        </p:nvSpPr>
        <p:spPr>
          <a:xfrm>
            <a:off x="1019175" y="3143250"/>
            <a:ext cx="285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0B1220"/>
                </a:solidFill>
              </a:rPr>
              <a:t>İş yükü envanteri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0B1220"/>
                </a:solidFill>
              </a:rPr>
              <a:t>Veri sınıflandırma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0B1220"/>
                </a:solidFill>
              </a:rPr>
              <a:t>Risk analizi</a:t>
            </a:r>
            <a:endParaRPr/>
          </a:p>
        </p:txBody>
      </p:sp>
      <p:sp>
        <p:nvSpPr>
          <p:cNvPr id="767" name="Google Shape;767;p30"/>
          <p:cNvSpPr/>
          <p:nvPr/>
        </p:nvSpPr>
        <p:spPr>
          <a:xfrm>
            <a:off x="4524375" y="2000250"/>
            <a:ext cx="3333750" cy="2857500"/>
          </a:xfrm>
          <a:prstGeom prst="roundRect">
            <a:avLst>
              <a:gd fmla="val 4000" name="adj"/>
            </a:avLst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0"/>
          <p:cNvSpPr/>
          <p:nvPr/>
        </p:nvSpPr>
        <p:spPr>
          <a:xfrm>
            <a:off x="4733925" y="2286000"/>
            <a:ext cx="2857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775E6"/>
                </a:solidFill>
              </a:rPr>
              <a:t>31–60 gün</a:t>
            </a:r>
            <a:endParaRPr/>
          </a:p>
        </p:txBody>
      </p:sp>
      <p:sp>
        <p:nvSpPr>
          <p:cNvPr id="769" name="Google Shape;769;p30"/>
          <p:cNvSpPr/>
          <p:nvPr/>
        </p:nvSpPr>
        <p:spPr>
          <a:xfrm>
            <a:off x="4733925" y="3143250"/>
            <a:ext cx="285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0B1220"/>
                </a:solidFill>
              </a:rPr>
              <a:t>Kimlik ve MFA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0B1220"/>
                </a:solidFill>
              </a:rPr>
              <a:t>Şifreleme + KMS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0B1220"/>
                </a:solidFill>
              </a:rPr>
              <a:t>Log ve audit</a:t>
            </a:r>
            <a:endParaRPr/>
          </a:p>
        </p:txBody>
      </p:sp>
      <p:sp>
        <p:nvSpPr>
          <p:cNvPr id="770" name="Google Shape;770;p30"/>
          <p:cNvSpPr/>
          <p:nvPr/>
        </p:nvSpPr>
        <p:spPr>
          <a:xfrm>
            <a:off x="8239125" y="2000250"/>
            <a:ext cx="3333750" cy="2857500"/>
          </a:xfrm>
          <a:prstGeom prst="roundRect">
            <a:avLst>
              <a:gd fmla="val 4000" name="adj"/>
            </a:avLst>
          </a:prstGeom>
          <a:solidFill>
            <a:srgbClr val="E8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0"/>
          <p:cNvSpPr/>
          <p:nvPr/>
        </p:nvSpPr>
        <p:spPr>
          <a:xfrm>
            <a:off x="8448675" y="2286000"/>
            <a:ext cx="2857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775E6"/>
                </a:solidFill>
              </a:rPr>
              <a:t>61–90 gün</a:t>
            </a:r>
            <a:endParaRPr/>
          </a:p>
        </p:txBody>
      </p:sp>
      <p:sp>
        <p:nvSpPr>
          <p:cNvPr id="772" name="Google Shape;772;p30"/>
          <p:cNvSpPr/>
          <p:nvPr/>
        </p:nvSpPr>
        <p:spPr>
          <a:xfrm>
            <a:off x="8448675" y="3143250"/>
            <a:ext cx="285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0B1220"/>
                </a:solidFill>
              </a:rPr>
              <a:t>Yedek ve DR testi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0B1220"/>
                </a:solidFill>
              </a:rPr>
              <a:t>Olay müdahalesi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0B1220"/>
                </a:solidFill>
              </a:rPr>
              <a:t>Pilot iş yükleri</a:t>
            </a:r>
            <a:endParaRPr/>
          </a:p>
        </p:txBody>
      </p:sp>
      <p:sp>
        <p:nvSpPr>
          <p:cNvPr id="773" name="Google Shape;773;p30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30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31"/>
          <p:cNvSpPr/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75E6"/>
                </a:solidFill>
              </a:rPr>
              <a:t>SONUÇ</a:t>
            </a:r>
            <a:endParaRPr/>
          </a:p>
        </p:txBody>
      </p:sp>
      <p:sp>
        <p:nvSpPr>
          <p:cNvPr id="780" name="Google Shape;780;p31"/>
          <p:cNvSpPr/>
          <p:nvPr/>
        </p:nvSpPr>
        <p:spPr>
          <a:xfrm>
            <a:off x="609600" y="64770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B1220"/>
                </a:solidFill>
              </a:rPr>
              <a:t>Karar özeti: iş yükü, veri ve sorumluluk sınırıyla başlayın</a:t>
            </a:r>
            <a:endParaRPr/>
          </a:p>
        </p:txBody>
      </p:sp>
      <p:cxnSp>
        <p:nvCxnSpPr>
          <p:cNvPr id="781" name="Google Shape;781;p31"/>
          <p:cNvCxnSpPr/>
          <p:nvPr/>
        </p:nvCxnSpPr>
        <p:spPr>
          <a:xfrm>
            <a:off x="609600" y="13525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2" name="Google Shape;782;p31"/>
          <p:cNvSpPr/>
          <p:nvPr/>
        </p:nvSpPr>
        <p:spPr>
          <a:xfrm>
            <a:off x="742950" y="1619250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775E6"/>
                </a:solidFill>
              </a:rPr>
              <a:t>1</a:t>
            </a:r>
            <a:endParaRPr/>
          </a:p>
        </p:txBody>
      </p:sp>
      <p:sp>
        <p:nvSpPr>
          <p:cNvPr id="783" name="Google Shape;783;p31"/>
          <p:cNvSpPr/>
          <p:nvPr/>
        </p:nvSpPr>
        <p:spPr>
          <a:xfrm>
            <a:off x="1285875" y="1619250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220"/>
                </a:solidFill>
              </a:rPr>
              <a:t>Bulut</a:t>
            </a:r>
            <a:endParaRPr/>
          </a:p>
        </p:txBody>
      </p:sp>
      <p:sp>
        <p:nvSpPr>
          <p:cNvPr id="784" name="Google Shape;784;p31"/>
          <p:cNvSpPr/>
          <p:nvPr/>
        </p:nvSpPr>
        <p:spPr>
          <a:xfrm>
            <a:off x="3429000" y="1619250"/>
            <a:ext cx="723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Self-service ve otomasyonlu hizmet modelidir</a:t>
            </a:r>
            <a:endParaRPr/>
          </a:p>
        </p:txBody>
      </p:sp>
      <p:sp>
        <p:nvSpPr>
          <p:cNvPr id="785" name="Google Shape;785;p31"/>
          <p:cNvSpPr/>
          <p:nvPr/>
        </p:nvSpPr>
        <p:spPr>
          <a:xfrm>
            <a:off x="742950" y="2400300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775E6"/>
                </a:solidFill>
              </a:rPr>
              <a:t>2</a:t>
            </a:r>
            <a:endParaRPr/>
          </a:p>
        </p:txBody>
      </p:sp>
      <p:sp>
        <p:nvSpPr>
          <p:cNvPr id="786" name="Google Shape;786;p31"/>
          <p:cNvSpPr/>
          <p:nvPr/>
        </p:nvSpPr>
        <p:spPr>
          <a:xfrm>
            <a:off x="1285875" y="2400300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220"/>
                </a:solidFill>
              </a:rPr>
              <a:t>Model</a:t>
            </a:r>
            <a:endParaRPr/>
          </a:p>
        </p:txBody>
      </p:sp>
      <p:sp>
        <p:nvSpPr>
          <p:cNvPr id="787" name="Google Shape;787;p31"/>
          <p:cNvSpPr/>
          <p:nvPr/>
        </p:nvSpPr>
        <p:spPr>
          <a:xfrm>
            <a:off x="3429000" y="2400300"/>
            <a:ext cx="723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Kontrol, hız, veri ve operasyon dengesidir</a:t>
            </a:r>
            <a:endParaRPr/>
          </a:p>
        </p:txBody>
      </p:sp>
      <p:sp>
        <p:nvSpPr>
          <p:cNvPr id="788" name="Google Shape;788;p31"/>
          <p:cNvSpPr/>
          <p:nvPr/>
        </p:nvSpPr>
        <p:spPr>
          <a:xfrm>
            <a:off x="742950" y="3181350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775E6"/>
                </a:solidFill>
              </a:rPr>
              <a:t>3</a:t>
            </a:r>
            <a:endParaRPr/>
          </a:p>
        </p:txBody>
      </p:sp>
      <p:sp>
        <p:nvSpPr>
          <p:cNvPr id="789" name="Google Shape;789;p31"/>
          <p:cNvSpPr/>
          <p:nvPr/>
        </p:nvSpPr>
        <p:spPr>
          <a:xfrm>
            <a:off x="1285875" y="3181350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220"/>
                </a:solidFill>
              </a:rPr>
              <a:t>Servis</a:t>
            </a:r>
            <a:endParaRPr/>
          </a:p>
        </p:txBody>
      </p:sp>
      <p:sp>
        <p:nvSpPr>
          <p:cNvPr id="790" name="Google Shape;790;p31"/>
          <p:cNvSpPr/>
          <p:nvPr/>
        </p:nvSpPr>
        <p:spPr>
          <a:xfrm>
            <a:off x="3429000" y="3181350"/>
            <a:ext cx="723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Sorumluluk sınırını belirler</a:t>
            </a:r>
            <a:endParaRPr/>
          </a:p>
        </p:txBody>
      </p:sp>
      <p:sp>
        <p:nvSpPr>
          <p:cNvPr id="791" name="Google Shape;791;p31"/>
          <p:cNvSpPr/>
          <p:nvPr/>
        </p:nvSpPr>
        <p:spPr>
          <a:xfrm>
            <a:off x="742950" y="3962400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775E6"/>
                </a:solidFill>
              </a:rPr>
              <a:t>4</a:t>
            </a:r>
            <a:endParaRPr/>
          </a:p>
        </p:txBody>
      </p:sp>
      <p:sp>
        <p:nvSpPr>
          <p:cNvPr id="792" name="Google Shape;792;p31"/>
          <p:cNvSpPr/>
          <p:nvPr/>
        </p:nvSpPr>
        <p:spPr>
          <a:xfrm>
            <a:off x="1285875" y="3962400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220"/>
                </a:solidFill>
              </a:rPr>
              <a:t>Güvenlik</a:t>
            </a:r>
            <a:endParaRPr/>
          </a:p>
        </p:txBody>
      </p:sp>
      <p:sp>
        <p:nvSpPr>
          <p:cNvPr id="793" name="Google Shape;793;p31"/>
          <p:cNvSpPr/>
          <p:nvPr/>
        </p:nvSpPr>
        <p:spPr>
          <a:xfrm>
            <a:off x="3429000" y="3962400"/>
            <a:ext cx="723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Kimlik, veri ve yapılandırma birlikte korunur</a:t>
            </a:r>
            <a:endParaRPr/>
          </a:p>
        </p:txBody>
      </p:sp>
      <p:sp>
        <p:nvSpPr>
          <p:cNvPr id="794" name="Google Shape;794;p31"/>
          <p:cNvSpPr/>
          <p:nvPr/>
        </p:nvSpPr>
        <p:spPr>
          <a:xfrm>
            <a:off x="742950" y="4743450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775E6"/>
                </a:solidFill>
              </a:rPr>
              <a:t>5</a:t>
            </a:r>
            <a:endParaRPr/>
          </a:p>
        </p:txBody>
      </p:sp>
      <p:sp>
        <p:nvSpPr>
          <p:cNvPr id="795" name="Google Shape;795;p31"/>
          <p:cNvSpPr/>
          <p:nvPr/>
        </p:nvSpPr>
        <p:spPr>
          <a:xfrm>
            <a:off x="1285875" y="4743450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220"/>
                </a:solidFill>
              </a:rPr>
              <a:t>Private cloud</a:t>
            </a:r>
            <a:endParaRPr/>
          </a:p>
        </p:txBody>
      </p:sp>
      <p:sp>
        <p:nvSpPr>
          <p:cNvPr id="796" name="Google Shape;796;p31"/>
          <p:cNvSpPr/>
          <p:nvPr/>
        </p:nvSpPr>
        <p:spPr>
          <a:xfrm>
            <a:off x="3429000" y="4743450"/>
            <a:ext cx="723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2606D"/>
                </a:solidFill>
              </a:rPr>
              <a:t>Kontrol kazandırır; işletim sorumluluğunu artırır</a:t>
            </a:r>
            <a:endParaRPr/>
          </a:p>
        </p:txBody>
      </p:sp>
      <p:sp>
        <p:nvSpPr>
          <p:cNvPr id="797" name="Google Shape;797;p31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31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43"/>
        </a:solidFill>
      </p:bgPr>
    </p:bg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2"/>
          <p:cNvSpPr/>
          <p:nvPr/>
        </p:nvSpPr>
        <p:spPr>
          <a:xfrm>
            <a:off x="762000" y="857250"/>
            <a:ext cx="666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</a:rPr>
              <a:t>Bir sonraki adım</a:t>
            </a:r>
            <a:endParaRPr/>
          </a:p>
        </p:txBody>
      </p:sp>
      <p:sp>
        <p:nvSpPr>
          <p:cNvPr id="804" name="Google Shape;804;p32"/>
          <p:cNvSpPr/>
          <p:nvPr/>
        </p:nvSpPr>
        <p:spPr>
          <a:xfrm>
            <a:off x="762000" y="1666875"/>
            <a:ext cx="904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63CBE8"/>
                </a:solidFill>
              </a:rPr>
              <a:t>Buluta taşınacak veriyi ve riskleri netleştirin</a:t>
            </a:r>
            <a:endParaRPr/>
          </a:p>
        </p:txBody>
      </p:sp>
      <p:sp>
        <p:nvSpPr>
          <p:cNvPr id="805" name="Google Shape;805;p32"/>
          <p:cNvSpPr/>
          <p:nvPr/>
        </p:nvSpPr>
        <p:spPr>
          <a:xfrm>
            <a:off x="857250" y="285750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63CBE8"/>
                </a:solidFill>
              </a:rPr>
              <a:t>01</a:t>
            </a:r>
            <a:endParaRPr/>
          </a:p>
        </p:txBody>
      </p:sp>
      <p:sp>
        <p:nvSpPr>
          <p:cNvPr id="806" name="Google Shape;806;p32"/>
          <p:cNvSpPr/>
          <p:nvPr/>
        </p:nvSpPr>
        <p:spPr>
          <a:xfrm>
            <a:off x="1428750" y="2838450"/>
            <a:ext cx="8572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FFFFFF"/>
                </a:solidFill>
              </a:rPr>
              <a:t>Hangi veri sınıfları buluta taşınacak?</a:t>
            </a:r>
            <a:endParaRPr/>
          </a:p>
        </p:txBody>
      </p:sp>
      <p:sp>
        <p:nvSpPr>
          <p:cNvPr id="807" name="Google Shape;807;p32"/>
          <p:cNvSpPr/>
          <p:nvPr/>
        </p:nvSpPr>
        <p:spPr>
          <a:xfrm>
            <a:off x="857250" y="348615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63CBE8"/>
                </a:solidFill>
              </a:rPr>
              <a:t>02</a:t>
            </a:r>
            <a:endParaRPr/>
          </a:p>
        </p:txBody>
      </p:sp>
      <p:sp>
        <p:nvSpPr>
          <p:cNvPr id="808" name="Google Shape;808;p32"/>
          <p:cNvSpPr/>
          <p:nvPr/>
        </p:nvSpPr>
        <p:spPr>
          <a:xfrm>
            <a:off x="1428750" y="3467100"/>
            <a:ext cx="8572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FFFFFF"/>
                </a:solidFill>
              </a:rPr>
              <a:t>Veri hangi ülkede ve bölgede tutulmalı?</a:t>
            </a:r>
            <a:endParaRPr/>
          </a:p>
        </p:txBody>
      </p:sp>
      <p:sp>
        <p:nvSpPr>
          <p:cNvPr id="809" name="Google Shape;809;p32"/>
          <p:cNvSpPr/>
          <p:nvPr/>
        </p:nvSpPr>
        <p:spPr>
          <a:xfrm>
            <a:off x="857250" y="411480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63CBE8"/>
                </a:solidFill>
              </a:rPr>
              <a:t>03</a:t>
            </a:r>
            <a:endParaRPr/>
          </a:p>
        </p:txBody>
      </p:sp>
      <p:sp>
        <p:nvSpPr>
          <p:cNvPr id="810" name="Google Shape;810;p32"/>
          <p:cNvSpPr/>
          <p:nvPr/>
        </p:nvSpPr>
        <p:spPr>
          <a:xfrm>
            <a:off x="1428750" y="4095750"/>
            <a:ext cx="8572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FFFFFF"/>
                </a:solidFill>
              </a:rPr>
              <a:t>RPO, RTO ve yasal saklama süresi nedir?</a:t>
            </a:r>
            <a:endParaRPr/>
          </a:p>
        </p:txBody>
      </p:sp>
      <p:sp>
        <p:nvSpPr>
          <p:cNvPr id="811" name="Google Shape;811;p32"/>
          <p:cNvSpPr/>
          <p:nvPr/>
        </p:nvSpPr>
        <p:spPr>
          <a:xfrm>
            <a:off x="857250" y="474345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63CBE8"/>
                </a:solidFill>
              </a:rPr>
              <a:t>04</a:t>
            </a:r>
            <a:endParaRPr/>
          </a:p>
        </p:txBody>
      </p:sp>
      <p:sp>
        <p:nvSpPr>
          <p:cNvPr id="812" name="Google Shape;812;p32"/>
          <p:cNvSpPr/>
          <p:nvPr/>
        </p:nvSpPr>
        <p:spPr>
          <a:xfrm>
            <a:off x="1428750" y="4724400"/>
            <a:ext cx="8572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FFFFFF"/>
                </a:solidFill>
              </a:rPr>
              <a:t>Kimler hangi verilere erişebilmeli?</a:t>
            </a:r>
            <a:endParaRPr/>
          </a:p>
        </p:txBody>
      </p:sp>
      <p:sp>
        <p:nvSpPr>
          <p:cNvPr id="813" name="Google Shape;813;p32"/>
          <p:cNvSpPr/>
          <p:nvPr/>
        </p:nvSpPr>
        <p:spPr>
          <a:xfrm>
            <a:off x="762000" y="5953125"/>
            <a:ext cx="971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C9D8E8"/>
                </a:solidFill>
              </a:rPr>
              <a:t>Bu dört cevap, güvenli bulut tasarımının başlangıcıdır.</a:t>
            </a:r>
            <a:endParaRPr/>
          </a:p>
        </p:txBody>
      </p:sp>
      <p:sp>
        <p:nvSpPr>
          <p:cNvPr id="814" name="Google Shape;814;p32"/>
          <p:cNvSpPr/>
          <p:nvPr/>
        </p:nvSpPr>
        <p:spPr>
          <a:xfrm>
            <a:off x="11096625" y="6429375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2606D"/>
                </a:solidFill>
              </a:rPr>
              <a:t>32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