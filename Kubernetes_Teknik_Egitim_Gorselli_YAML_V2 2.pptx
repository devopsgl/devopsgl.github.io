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c443307cc41c9" /><Relationship Type="http://schemas.openxmlformats.org/officeDocument/2006/relationships/extended-properties" Target="/docProps/app.xml" Id="R6135776992c347d4" /><Relationship Type="http://schemas.openxmlformats.org/officeDocument/2006/relationships/officeDocument" Target="/ppt/presentation.xml" Id="R5c18735ad2ff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faaae4a04b4e34"/>
  </p:sldMasterIdLst>
  <p:notesMasterIdLst>
    <p:notesMasterId xmlns:r="http://schemas.openxmlformats.org/officeDocument/2006/relationships" r:id="R29a12e1dff604129"/>
  </p:notesMasterIdLst>
  <p:sldIdLst>
    <p:sldId xmlns:r="http://schemas.openxmlformats.org/officeDocument/2006/relationships" id="256" r:id="R63bb55c15dc34f9b"/>
    <p:sldId xmlns:r="http://schemas.openxmlformats.org/officeDocument/2006/relationships" id="257" r:id="R6b3dcdd7d8a94184"/>
    <p:sldId xmlns:r="http://schemas.openxmlformats.org/officeDocument/2006/relationships" id="258" r:id="R18fe103c22e846c3"/>
    <p:sldId xmlns:r="http://schemas.openxmlformats.org/officeDocument/2006/relationships" id="259" r:id="Rc4665a93d9a3404e"/>
    <p:sldId xmlns:r="http://schemas.openxmlformats.org/officeDocument/2006/relationships" id="260" r:id="Rc94c44e9236e4d19"/>
    <p:sldId xmlns:r="http://schemas.openxmlformats.org/officeDocument/2006/relationships" id="261" r:id="Rabec9f3ff7894ac8"/>
    <p:sldId xmlns:r="http://schemas.openxmlformats.org/officeDocument/2006/relationships" id="262" r:id="R436354c8687c4c4e"/>
    <p:sldId xmlns:r="http://schemas.openxmlformats.org/officeDocument/2006/relationships" id="263" r:id="Rfe9c126a75dc4c15"/>
    <p:sldId xmlns:r="http://schemas.openxmlformats.org/officeDocument/2006/relationships" id="264" r:id="Ra5f8b629a8a84e7c"/>
    <p:sldId xmlns:r="http://schemas.openxmlformats.org/officeDocument/2006/relationships" id="265" r:id="Rfede02e3f3204db0"/>
    <p:sldId xmlns:r="http://schemas.openxmlformats.org/officeDocument/2006/relationships" id="266" r:id="Rf7d0d8ed230c4242"/>
    <p:sldId xmlns:r="http://schemas.openxmlformats.org/officeDocument/2006/relationships" id="267" r:id="R55b211e223174d24"/>
    <p:sldId xmlns:r="http://schemas.openxmlformats.org/officeDocument/2006/relationships" id="268" r:id="Ra0082a1881444f26"/>
    <p:sldId xmlns:r="http://schemas.openxmlformats.org/officeDocument/2006/relationships" id="269" r:id="Rc152c0eab21f4713"/>
    <p:sldId xmlns:r="http://schemas.openxmlformats.org/officeDocument/2006/relationships" id="270" r:id="R54395cc58ff1421a"/>
    <p:sldId xmlns:r="http://schemas.openxmlformats.org/officeDocument/2006/relationships" id="271" r:id="Rbf2092e432e64284"/>
    <p:sldId xmlns:r="http://schemas.openxmlformats.org/officeDocument/2006/relationships" id="272" r:id="R6963868afd1243e0"/>
    <p:sldId xmlns:r="http://schemas.openxmlformats.org/officeDocument/2006/relationships" id="273" r:id="Rf4372a2c48624af9"/>
    <p:sldId xmlns:r="http://schemas.openxmlformats.org/officeDocument/2006/relationships" id="274" r:id="R69160c32a15a4bf3"/>
    <p:sldId xmlns:r="http://schemas.openxmlformats.org/officeDocument/2006/relationships" id="275" r:id="R44a849e663964043"/>
    <p:sldId xmlns:r="http://schemas.openxmlformats.org/officeDocument/2006/relationships" id="276" r:id="R58970d048ff3464e"/>
    <p:sldId xmlns:r="http://schemas.openxmlformats.org/officeDocument/2006/relationships" id="277" r:id="Re65b876d6f1a4086"/>
    <p:sldId xmlns:r="http://schemas.openxmlformats.org/officeDocument/2006/relationships" id="278" r:id="R5f9609e019924aaa"/>
    <p:sldId xmlns:r="http://schemas.openxmlformats.org/officeDocument/2006/relationships" id="279" r:id="Ra2ddb6d7263d4f4d"/>
    <p:sldId xmlns:r="http://schemas.openxmlformats.org/officeDocument/2006/relationships" id="280" r:id="R9828a525c5e041dd"/>
    <p:sldId xmlns:r="http://schemas.openxmlformats.org/officeDocument/2006/relationships" id="281" r:id="R4273128f3fec4205"/>
    <p:sldId xmlns:r="http://schemas.openxmlformats.org/officeDocument/2006/relationships" id="282" r:id="R762eb136ffdf4332"/>
    <p:sldId xmlns:r="http://schemas.openxmlformats.org/officeDocument/2006/relationships" id="283" r:id="R87ecbe975f254e1b"/>
    <p:sldId xmlns:r="http://schemas.openxmlformats.org/officeDocument/2006/relationships" id="284" r:id="R2c5d6cfe0f8a4db5"/>
    <p:sldId xmlns:r="http://schemas.openxmlformats.org/officeDocument/2006/relationships" id="285" r:id="R545fe3b4cb81407f"/>
    <p:sldId xmlns:r="http://schemas.openxmlformats.org/officeDocument/2006/relationships" id="286" r:id="R0ed18cbe178145bb"/>
    <p:sldId xmlns:r="http://schemas.openxmlformats.org/officeDocument/2006/relationships" id="287" r:id="R68fe3e4681854a59"/>
    <p:sldId xmlns:r="http://schemas.openxmlformats.org/officeDocument/2006/relationships" id="288" r:id="R67eba2ccafc944fe"/>
    <p:sldId xmlns:r="http://schemas.openxmlformats.org/officeDocument/2006/relationships" id="289" r:id="R7032ead0b6554ee2"/>
    <p:sldId xmlns:r="http://schemas.openxmlformats.org/officeDocument/2006/relationships" id="290" r:id="Ra43b3650a80a42bb"/>
    <p:sldId xmlns:r="http://schemas.openxmlformats.org/officeDocument/2006/relationships" id="291" r:id="Rbb31ea922e6248db"/>
    <p:sldId xmlns:r="http://schemas.openxmlformats.org/officeDocument/2006/relationships" id="292" r:id="Ra2a07b8053424b9a"/>
    <p:sldId xmlns:r="http://schemas.openxmlformats.org/officeDocument/2006/relationships" id="293" r:id="Ra925940958454484"/>
    <p:sldId xmlns:r="http://schemas.openxmlformats.org/officeDocument/2006/relationships" id="294" r:id="R76a2f862e3214468"/>
    <p:sldId xmlns:r="http://schemas.openxmlformats.org/officeDocument/2006/relationships" id="295" r:id="Rf9338504b47a4c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0bf5dd6cb4c6c" /><Relationship Type="http://schemas.openxmlformats.org/officeDocument/2006/relationships/slideMaster" Target="/ppt/slideMasters/slideMaster1.xml" Id="Rd2faaae4a04b4e34" /><Relationship Type="http://schemas.openxmlformats.org/officeDocument/2006/relationships/notesMaster" Target="/ppt/notesMasters/notesMaster1.xml" Id="R29a12e1dff604129" /><Relationship Type="http://schemas.openxmlformats.org/officeDocument/2006/relationships/presProps" Target="/ppt/presProps.xml" Id="R4ff68144533b4a8c" /><Relationship Type="http://schemas.openxmlformats.org/officeDocument/2006/relationships/tableStyles" Target="/ppt/tableStyles.xml" Id="Rdafdb183dc3240e9" /><Relationship Type="http://schemas.openxmlformats.org/officeDocument/2006/relationships/slide" Target="/ppt/slides/slide1.xml" Id="R63bb55c15dc34f9b" /><Relationship Type="http://schemas.openxmlformats.org/officeDocument/2006/relationships/slide" Target="/ppt/slides/slide2.xml" Id="R6b3dcdd7d8a94184" /><Relationship Type="http://schemas.openxmlformats.org/officeDocument/2006/relationships/slide" Target="/ppt/slides/slide3.xml" Id="R18fe103c22e846c3" /><Relationship Type="http://schemas.openxmlformats.org/officeDocument/2006/relationships/slide" Target="/ppt/slides/slide4.xml" Id="Rc4665a93d9a3404e" /><Relationship Type="http://schemas.openxmlformats.org/officeDocument/2006/relationships/slide" Target="/ppt/slides/slide5.xml" Id="Rc94c44e9236e4d19" /><Relationship Type="http://schemas.openxmlformats.org/officeDocument/2006/relationships/slide" Target="/ppt/slides/slide6.xml" Id="Rabec9f3ff7894ac8" /><Relationship Type="http://schemas.openxmlformats.org/officeDocument/2006/relationships/slide" Target="/ppt/slides/slide7.xml" Id="R436354c8687c4c4e" /><Relationship Type="http://schemas.openxmlformats.org/officeDocument/2006/relationships/slide" Target="/ppt/slides/slide8.xml" Id="Rfe9c126a75dc4c15" /><Relationship Type="http://schemas.openxmlformats.org/officeDocument/2006/relationships/slide" Target="/ppt/slides/slide9.xml" Id="Ra5f8b629a8a84e7c" /><Relationship Type="http://schemas.openxmlformats.org/officeDocument/2006/relationships/slide" Target="/ppt/slides/slide10.xml" Id="Rfede02e3f3204db0" /><Relationship Type="http://schemas.openxmlformats.org/officeDocument/2006/relationships/slide" Target="/ppt/slides/slide11.xml" Id="Rf7d0d8ed230c4242" /><Relationship Type="http://schemas.openxmlformats.org/officeDocument/2006/relationships/slide" Target="/ppt/slides/slide12.xml" Id="R55b211e223174d24" /><Relationship Type="http://schemas.openxmlformats.org/officeDocument/2006/relationships/slide" Target="/ppt/slides/slide13.xml" Id="Ra0082a1881444f26" /><Relationship Type="http://schemas.openxmlformats.org/officeDocument/2006/relationships/slide" Target="/ppt/slides/slide14.xml" Id="Rc152c0eab21f4713" /><Relationship Type="http://schemas.openxmlformats.org/officeDocument/2006/relationships/slide" Target="/ppt/slides/slide15.xml" Id="R54395cc58ff1421a" /><Relationship Type="http://schemas.openxmlformats.org/officeDocument/2006/relationships/slide" Target="/ppt/slides/slide16.xml" Id="Rbf2092e432e64284" /><Relationship Type="http://schemas.openxmlformats.org/officeDocument/2006/relationships/slide" Target="/ppt/slides/slide17.xml" Id="R6963868afd1243e0" /><Relationship Type="http://schemas.openxmlformats.org/officeDocument/2006/relationships/slide" Target="/ppt/slides/slide18.xml" Id="Rf4372a2c48624af9" /><Relationship Type="http://schemas.openxmlformats.org/officeDocument/2006/relationships/slide" Target="/ppt/slides/slide19.xml" Id="R69160c32a15a4bf3" /><Relationship Type="http://schemas.openxmlformats.org/officeDocument/2006/relationships/slide" Target="/ppt/slides/slide20.xml" Id="R44a849e663964043" /><Relationship Type="http://schemas.openxmlformats.org/officeDocument/2006/relationships/slide" Target="/ppt/slides/slide21.xml" Id="R58970d048ff3464e" /><Relationship Type="http://schemas.openxmlformats.org/officeDocument/2006/relationships/slide" Target="/ppt/slides/slide22.xml" Id="Re65b876d6f1a4086" /><Relationship Type="http://schemas.openxmlformats.org/officeDocument/2006/relationships/slide" Target="/ppt/slides/slide23.xml" Id="R5f9609e019924aaa" /><Relationship Type="http://schemas.openxmlformats.org/officeDocument/2006/relationships/slide" Target="/ppt/slides/slide24.xml" Id="Ra2ddb6d7263d4f4d" /><Relationship Type="http://schemas.openxmlformats.org/officeDocument/2006/relationships/slide" Target="/ppt/slides/slide25.xml" Id="R9828a525c5e041dd" /><Relationship Type="http://schemas.openxmlformats.org/officeDocument/2006/relationships/slide" Target="/ppt/slides/slide26.xml" Id="R4273128f3fec4205" /><Relationship Type="http://schemas.openxmlformats.org/officeDocument/2006/relationships/slide" Target="/ppt/slides/slide27.xml" Id="R762eb136ffdf4332" /><Relationship Type="http://schemas.openxmlformats.org/officeDocument/2006/relationships/slide" Target="/ppt/slides/slide28.xml" Id="R87ecbe975f254e1b" /><Relationship Type="http://schemas.openxmlformats.org/officeDocument/2006/relationships/slide" Target="/ppt/slides/slide29.xml" Id="R2c5d6cfe0f8a4db5" /><Relationship Type="http://schemas.openxmlformats.org/officeDocument/2006/relationships/slide" Target="/ppt/slides/slide30.xml" Id="R545fe3b4cb81407f" /><Relationship Type="http://schemas.openxmlformats.org/officeDocument/2006/relationships/slide" Target="/ppt/slides/slide31.xml" Id="R0ed18cbe178145bb" /><Relationship Type="http://schemas.openxmlformats.org/officeDocument/2006/relationships/slide" Target="/ppt/slides/slide32.xml" Id="R68fe3e4681854a59" /><Relationship Type="http://schemas.openxmlformats.org/officeDocument/2006/relationships/slide" Target="/ppt/slides/slide33.xml" Id="R67eba2ccafc944fe" /><Relationship Type="http://schemas.openxmlformats.org/officeDocument/2006/relationships/slide" Target="/ppt/slides/slide34.xml" Id="R7032ead0b6554ee2" /><Relationship Type="http://schemas.openxmlformats.org/officeDocument/2006/relationships/slide" Target="/ppt/slides/slide35.xml" Id="Ra43b3650a80a42bb" /><Relationship Type="http://schemas.openxmlformats.org/officeDocument/2006/relationships/slide" Target="/ppt/slides/slide36.xml" Id="Rbb31ea922e6248db" /><Relationship Type="http://schemas.openxmlformats.org/officeDocument/2006/relationships/slide" Target="/ppt/slides/slide37.xml" Id="Ra2a07b8053424b9a" /><Relationship Type="http://schemas.openxmlformats.org/officeDocument/2006/relationships/slide" Target="/ppt/slides/slide38.xml" Id="Ra925940958454484" /><Relationship Type="http://schemas.openxmlformats.org/officeDocument/2006/relationships/slide" Target="/ppt/slides/slide39.xml" Id="R76a2f862e3214468" /><Relationship Type="http://schemas.openxmlformats.org/officeDocument/2006/relationships/slide" Target="/ppt/slides/slide40.xml" Id="Rf9338504b47a4c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529a1c6a2e49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272fe3ec964d8e" /><Relationship Type="http://schemas.openxmlformats.org/officeDocument/2006/relationships/notesMaster" Target="/ppt/notesMasters/notesMaster1.xml" Id="Rf3d05f751fed4c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6609aff4634532" /><Relationship Type="http://schemas.openxmlformats.org/officeDocument/2006/relationships/notesMaster" Target="/ppt/notesMasters/notesMaster1.xml" Id="Rd4557bf642b643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ae6148d7004da3" /><Relationship Type="http://schemas.openxmlformats.org/officeDocument/2006/relationships/notesMaster" Target="/ppt/notesMasters/notesMaster1.xml" Id="Redebb915afc345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fae5af8832454e" /><Relationship Type="http://schemas.openxmlformats.org/officeDocument/2006/relationships/notesMaster" Target="/ppt/notesMasters/notesMaster1.xml" Id="R4e05fd3b7291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cd9fbed0cd42f0" /><Relationship Type="http://schemas.openxmlformats.org/officeDocument/2006/relationships/notesMaster" Target="/ppt/notesMasters/notesMaster1.xml" Id="Ra4811627496746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6899ff623f4d38" /><Relationship Type="http://schemas.openxmlformats.org/officeDocument/2006/relationships/notesMaster" Target="/ppt/notesMasters/notesMaster1.xml" Id="R04f19aeb887841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2c153af553458b" /><Relationship Type="http://schemas.openxmlformats.org/officeDocument/2006/relationships/notesMaster" Target="/ppt/notesMasters/notesMaster1.xml" Id="R915c23fee9f7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713f0c3633450f" /><Relationship Type="http://schemas.openxmlformats.org/officeDocument/2006/relationships/notesMaster" Target="/ppt/notesMasters/notesMaster1.xml" Id="R9a9a0b4edef648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5cedfd3b25434e" /><Relationship Type="http://schemas.openxmlformats.org/officeDocument/2006/relationships/notesMaster" Target="/ppt/notesMasters/notesMaster1.xml" Id="Refbbff686b404d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212614dbb54780" /><Relationship Type="http://schemas.openxmlformats.org/officeDocument/2006/relationships/notesMaster" Target="/ppt/notesMasters/notesMaster1.xml" Id="Rd8974cc6fcad47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8e8e2d2d5142cc" /><Relationship Type="http://schemas.openxmlformats.org/officeDocument/2006/relationships/notesMaster" Target="/ppt/notesMasters/notesMaster1.xml" Id="R4f296ffd59474e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bf66691eb24e25" /><Relationship Type="http://schemas.openxmlformats.org/officeDocument/2006/relationships/notesMaster" Target="/ppt/notesMasters/notesMaster1.xml" Id="R822462e5ca4243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042efad8f04ba3" /><Relationship Type="http://schemas.openxmlformats.org/officeDocument/2006/relationships/notesMaster" Target="/ppt/notesMasters/notesMaster1.xml" Id="R4503cc76aa8c4f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c64039d6b7403f" /><Relationship Type="http://schemas.openxmlformats.org/officeDocument/2006/relationships/notesMaster" Target="/ppt/notesMasters/notesMaster1.xml" Id="Rd0f73a66703944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096d1340c345bb" /><Relationship Type="http://schemas.openxmlformats.org/officeDocument/2006/relationships/notesMaster" Target="/ppt/notesMasters/notesMaster1.xml" Id="R9ef74517fb954c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489bb356d74b2a" /><Relationship Type="http://schemas.openxmlformats.org/officeDocument/2006/relationships/notesMaster" Target="/ppt/notesMasters/notesMaster1.xml" Id="R0efdec4bfba04f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2d0c1c9d5f45ae" /><Relationship Type="http://schemas.openxmlformats.org/officeDocument/2006/relationships/notesMaster" Target="/ppt/notesMasters/notesMaster1.xml" Id="R9ce4c8deef874b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116548ff2643c9" /><Relationship Type="http://schemas.openxmlformats.org/officeDocument/2006/relationships/notesMaster" Target="/ppt/notesMasters/notesMaster1.xml" Id="Rccf0dd06774f4a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f23407ec084404" /><Relationship Type="http://schemas.openxmlformats.org/officeDocument/2006/relationships/notesMaster" Target="/ppt/notesMasters/notesMaster1.xml" Id="R662a036634ed44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a4fb395b024b95" /><Relationship Type="http://schemas.openxmlformats.org/officeDocument/2006/relationships/notesMaster" Target="/ppt/notesMasters/notesMaster1.xml" Id="R08d8c18ac34447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b9a9029a344346" /><Relationship Type="http://schemas.openxmlformats.org/officeDocument/2006/relationships/notesMaster" Target="/ppt/notesMasters/notesMaster1.xml" Id="Rf36cc3ab45a647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15f7d2df3545fd" /><Relationship Type="http://schemas.openxmlformats.org/officeDocument/2006/relationships/notesMaster" Target="/ppt/notesMasters/notesMaster1.xml" Id="R8213f0acb2af4c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908ba213f249c0" /><Relationship Type="http://schemas.openxmlformats.org/officeDocument/2006/relationships/notesMaster" Target="/ppt/notesMasters/notesMaster1.xml" Id="R1a054a9fa7bd4e0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4bac06d0c54ab4" /><Relationship Type="http://schemas.openxmlformats.org/officeDocument/2006/relationships/notesMaster" Target="/ppt/notesMasters/notesMaster1.xml" Id="R60680b736c4b4b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b7b5de050b4954" /><Relationship Type="http://schemas.openxmlformats.org/officeDocument/2006/relationships/notesMaster" Target="/ppt/notesMasters/notesMaster1.xml" Id="R4e2d10bdbf0c43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31c100bb4714f1b" /><Relationship Type="http://schemas.openxmlformats.org/officeDocument/2006/relationships/notesMaster" Target="/ppt/notesMasters/notesMaster1.xml" Id="Raeecca7894e541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4241c5c9bb04484" /><Relationship Type="http://schemas.openxmlformats.org/officeDocument/2006/relationships/notesMaster" Target="/ppt/notesMasters/notesMaster1.xml" Id="R56a35aa4c2ea4fc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1e0bbfce2b64e3d" /><Relationship Type="http://schemas.openxmlformats.org/officeDocument/2006/relationships/notesMaster" Target="/ppt/notesMasters/notesMaster1.xml" Id="R1bd269caa90d4f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f1215d1e54440da" /><Relationship Type="http://schemas.openxmlformats.org/officeDocument/2006/relationships/notesMaster" Target="/ppt/notesMasters/notesMaster1.xml" Id="R94b5e35d45d24e4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0d5f3dd9c44ce1" /><Relationship Type="http://schemas.openxmlformats.org/officeDocument/2006/relationships/notesMaster" Target="/ppt/notesMasters/notesMaster1.xml" Id="R64e5a9fddb11453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b2905d3e8de4890" /><Relationship Type="http://schemas.openxmlformats.org/officeDocument/2006/relationships/notesMaster" Target="/ppt/notesMasters/notesMaster1.xml" Id="Rd451c804a83142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068cca1060f4309" /><Relationship Type="http://schemas.openxmlformats.org/officeDocument/2006/relationships/notesMaster" Target="/ppt/notesMasters/notesMaster1.xml" Id="R28390cee78b34d3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f43317bf8c54fd8" /><Relationship Type="http://schemas.openxmlformats.org/officeDocument/2006/relationships/notesMaster" Target="/ppt/notesMasters/notesMaster1.xml" Id="R013cd029542145d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0d7030e3aa84c61" /><Relationship Type="http://schemas.openxmlformats.org/officeDocument/2006/relationships/notesMaster" Target="/ppt/notesMasters/notesMaster1.xml" Id="R588bc2c6f85847d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681cc1ea1a04313" /><Relationship Type="http://schemas.openxmlformats.org/officeDocument/2006/relationships/notesMaster" Target="/ppt/notesMasters/notesMaster1.xml" Id="R9cedc4e1e89948d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4f2111095a4099" /><Relationship Type="http://schemas.openxmlformats.org/officeDocument/2006/relationships/notesMaster" Target="/ppt/notesMasters/notesMaster1.xml" Id="R42ab7987ffd3467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1f63d6871f244db" /><Relationship Type="http://schemas.openxmlformats.org/officeDocument/2006/relationships/notesMaster" Target="/ppt/notesMasters/notesMaster1.xml" Id="R2c4dd39fd8b646f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4f26163306d4cf4" /><Relationship Type="http://schemas.openxmlformats.org/officeDocument/2006/relationships/notesMaster" Target="/ppt/notesMasters/notesMaster1.xml" Id="R4e6d17ba3e394d8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01610baf7a440fc" /><Relationship Type="http://schemas.openxmlformats.org/officeDocument/2006/relationships/notesMaster" Target="/ppt/notesMasters/notesMaster1.xml" Id="Rcb354e9de6684e1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c9b31dfb5864313" /><Relationship Type="http://schemas.openxmlformats.org/officeDocument/2006/relationships/notesMaster" Target="/ppt/notesMasters/notesMaster1.xml" Id="Rbb97c13a8c58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Eğitimin hedefi: Kubernetes nesnelerini anlamak, doğru YAML yazmak ve üretim operasyonunun temelini kurmak.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Öğrenme hedefleri.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Kubernetes genel bakış.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Container runtime ile orkestratör farkı.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Cluster mimarisinin üst düzey görünümü.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 plane bileşenleri.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https://kubernetes.io/docs/concepts/overview/components/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 bileşenleri.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https://kubernetes.io/docs/concepts/overview/components/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Reconciliation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Kubernetes object manifest alanları.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https://kubernetes.io/docs/concepts/overview/working-with-objects/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 kavramı.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https://kubernetes.io/docs/concepts/workloads/pods/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https://kubernetes.io/docs/concepts/workloads/controllers/deployment/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Workload controller türleri.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https://kubernetes.io/docs/concepts/services-networking/service/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https://kubernetes.io/docs/concepts/services-networking/ingress/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ConfigMap ve Secret.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Container probes.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https://kubernetes.io/docs/concepts/configuration/liveness-readiness-startup-probes/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https://kubernetes.io/docs/concepts/configuration/manage-resources-containers/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Persistent volumes.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https://kubernetes.io/docs/concepts/storage/persistent-volumes/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Scheduling policies.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Autoscaling.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https://kubernetes.io/docs/tasks/run-application/horizontal-pod-autoscale/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RBAC.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https://kubernetes.io/docs/reference/access-authn-authz/rbac/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Kubernetes security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https://kubernetes.io/docs/concepts/security/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Cluster networking.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https://kubernetes.io/docs/concepts/cluster-administration/networking/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troubleshooting.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https://kubernetes.io/docs/tasks/debug/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Observability yaklaşımı.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GitOps overview.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Üretim hazırlık özeti.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Kapanış özeti.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Uygulamalı kapanış.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https://kubernetes.io/docs/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70072a0f44e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5bd67abbc4f77" /><Relationship Type="http://schemas.openxmlformats.org/officeDocument/2006/relationships/slideLayout" Target="/ppt/slideLayouts/slideLayout1.xml" Id="R123006df554a4b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3006df554a4b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65bbe70ac40fb" /><Relationship Type="http://schemas.openxmlformats.org/officeDocument/2006/relationships/image" Target="/ppt/media/image.png" Id="R2cd71141fdb54986" /><Relationship Type="http://schemas.openxmlformats.org/officeDocument/2006/relationships/notesSlide" Target="/ppt/notesSlides/notesSlide1.xml" Id="Rb362aa4575d147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15373553e47f0" /><Relationship Type="http://schemas.openxmlformats.org/officeDocument/2006/relationships/notesSlide" Target="/ppt/notesSlides/notesSlide2.xml" Id="R1daa605ec38541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8c9b851db43e2" /><Relationship Type="http://schemas.openxmlformats.org/officeDocument/2006/relationships/image" Target="/ppt/media/image2.png" Id="Rdd9c6cddd7614094" /><Relationship Type="http://schemas.openxmlformats.org/officeDocument/2006/relationships/notesSlide" Target="/ppt/notesSlides/notesSlide3.xml" Id="R7534e9459fe84a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81220006c456c" /><Relationship Type="http://schemas.openxmlformats.org/officeDocument/2006/relationships/notesSlide" Target="/ppt/notesSlides/notesSlide4.xml" Id="Rfb1c93efa01840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640aa41764c6d" /><Relationship Type="http://schemas.openxmlformats.org/officeDocument/2006/relationships/notesSlide" Target="/ppt/notesSlides/notesSlide5.xml" Id="R6d7e4e9966e245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0e37149a44124" /><Relationship Type="http://schemas.openxmlformats.org/officeDocument/2006/relationships/notesSlide" Target="/ppt/notesSlides/notesSlide6.xml" Id="R558079eddde847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6443e4df94e8b" /><Relationship Type="http://schemas.openxmlformats.org/officeDocument/2006/relationships/notesSlide" Target="/ppt/notesSlides/notesSlide7.xml" Id="R38d6e6efe48a49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7e5a5d59b41b8" /><Relationship Type="http://schemas.openxmlformats.org/officeDocument/2006/relationships/notesSlide" Target="/ppt/notesSlides/notesSlide8.xml" Id="R852218b38abd41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9d8acb77f4a94" /><Relationship Type="http://schemas.openxmlformats.org/officeDocument/2006/relationships/notesSlide" Target="/ppt/notesSlides/notesSlide9.xml" Id="Radce419b876044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fc68ef3a34538" /><Relationship Type="http://schemas.openxmlformats.org/officeDocument/2006/relationships/notesSlide" Target="/ppt/notesSlides/notesSlide10.xml" Id="R3072d7f5684147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2ed1623c940e6" /><Relationship Type="http://schemas.openxmlformats.org/officeDocument/2006/relationships/image" Target="/ppt/media/image3.png" Id="R443764acb3574bc5" /><Relationship Type="http://schemas.openxmlformats.org/officeDocument/2006/relationships/notesSlide" Target="/ppt/notesSlides/notesSlide11.xml" Id="Rfef30c4d5ab94a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14a13d2074567" /><Relationship Type="http://schemas.openxmlformats.org/officeDocument/2006/relationships/notesSlide" Target="/ppt/notesSlides/notesSlide12.xml" Id="R2aaa9ba1c04049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dab24d1d64ebc" /><Relationship Type="http://schemas.openxmlformats.org/officeDocument/2006/relationships/notesSlide" Target="/ppt/notesSlides/notesSlide13.xml" Id="R05dea2b4540244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1840eb54c4dbd" /><Relationship Type="http://schemas.openxmlformats.org/officeDocument/2006/relationships/notesSlide" Target="/ppt/notesSlides/notesSlide14.xml" Id="R33fdcf415ce546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310908d5b4cea" /><Relationship Type="http://schemas.openxmlformats.org/officeDocument/2006/relationships/image" Target="/ppt/media/image4.png" Id="Ra9ff6fb63ec24b69" /><Relationship Type="http://schemas.openxmlformats.org/officeDocument/2006/relationships/notesSlide" Target="/ppt/notesSlides/notesSlide15.xml" Id="Re8e483d3b96d48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1919740ad487e" /><Relationship Type="http://schemas.openxmlformats.org/officeDocument/2006/relationships/notesSlide" Target="/ppt/notesSlides/notesSlide16.xml" Id="R51df1ce9e6384f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ec125c5484cfd" /><Relationship Type="http://schemas.openxmlformats.org/officeDocument/2006/relationships/notesSlide" Target="/ppt/notesSlides/notesSlide17.xml" Id="R31ada99f7cdc48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61faa30034235" /><Relationship Type="http://schemas.openxmlformats.org/officeDocument/2006/relationships/notesSlide" Target="/ppt/notesSlides/notesSlide18.xml" Id="Rbb20a8ea47a74b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2160b6e244805" /><Relationship Type="http://schemas.openxmlformats.org/officeDocument/2006/relationships/notesSlide" Target="/ppt/notesSlides/notesSlide19.xml" Id="R7c916c5fb2d547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d023ec4ce4da0" /><Relationship Type="http://schemas.openxmlformats.org/officeDocument/2006/relationships/notesSlide" Target="/ppt/notesSlides/notesSlide20.xml" Id="R4471f8f9dc474d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26d38ca741bb" /><Relationship Type="http://schemas.openxmlformats.org/officeDocument/2006/relationships/notesSlide" Target="/ppt/notesSlides/notesSlide21.xml" Id="Rddc646df7a384e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ba2dbf38d4089" /><Relationship Type="http://schemas.openxmlformats.org/officeDocument/2006/relationships/notesSlide" Target="/ppt/notesSlides/notesSlide22.xml" Id="Rc0fefc5f229740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45aec74c64b49" /><Relationship Type="http://schemas.openxmlformats.org/officeDocument/2006/relationships/notesSlide" Target="/ppt/notesSlides/notesSlide23.xml" Id="Rd8ea7aa63ccb4b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08fa8af714a25" /><Relationship Type="http://schemas.openxmlformats.org/officeDocument/2006/relationships/notesSlide" Target="/ppt/notesSlides/notesSlide24.xml" Id="R15f70fec243d4b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9bf7ce0bc46ac" /><Relationship Type="http://schemas.openxmlformats.org/officeDocument/2006/relationships/image" Target="/ppt/media/image5.png" Id="R1b96a17bd5d54825" /><Relationship Type="http://schemas.openxmlformats.org/officeDocument/2006/relationships/notesSlide" Target="/ppt/notesSlides/notesSlide25.xml" Id="R576d8f4d16a449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22478279d4357" /><Relationship Type="http://schemas.openxmlformats.org/officeDocument/2006/relationships/notesSlide" Target="/ppt/notesSlides/notesSlide26.xml" Id="R28c5f19adc5f421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e2e94b19d455f" /><Relationship Type="http://schemas.openxmlformats.org/officeDocument/2006/relationships/notesSlide" Target="/ppt/notesSlides/notesSlide27.xml" Id="Rccf2892524354ab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8a8907ec943f5" /><Relationship Type="http://schemas.openxmlformats.org/officeDocument/2006/relationships/image" Target="/ppt/media/image6.png" Id="Rd862eaa1b793426d" /><Relationship Type="http://schemas.openxmlformats.org/officeDocument/2006/relationships/notesSlide" Target="/ppt/notesSlides/notesSlide28.xml" Id="R2c39fef47969478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6ab815c6645dd" /><Relationship Type="http://schemas.openxmlformats.org/officeDocument/2006/relationships/notesSlide" Target="/ppt/notesSlides/notesSlide29.xml" Id="R23e6a7837fc746e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47922705644e3" /><Relationship Type="http://schemas.openxmlformats.org/officeDocument/2006/relationships/notesSlide" Target="/ppt/notesSlides/notesSlide30.xml" Id="R820e65f0266a40a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876ba69b54874" /><Relationship Type="http://schemas.openxmlformats.org/officeDocument/2006/relationships/notesSlide" Target="/ppt/notesSlides/notesSlide31.xml" Id="Rd3d090b6a1c9419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bdd6b102e47b8" /><Relationship Type="http://schemas.openxmlformats.org/officeDocument/2006/relationships/image" Target="/ppt/media/image7.png" Id="R6176d95413044cef" /><Relationship Type="http://schemas.openxmlformats.org/officeDocument/2006/relationships/notesSlide" Target="/ppt/notesSlides/notesSlide32.xml" Id="R5a50496cc4dd44e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aa98f93454477" /><Relationship Type="http://schemas.openxmlformats.org/officeDocument/2006/relationships/notesSlide" Target="/ppt/notesSlides/notesSlide33.xml" Id="R0309dce8342041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4dd892b2d466a" /><Relationship Type="http://schemas.openxmlformats.org/officeDocument/2006/relationships/notesSlide" Target="/ppt/notesSlides/notesSlide34.xml" Id="R553cd1c30357407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bb65121c3434e" /><Relationship Type="http://schemas.openxmlformats.org/officeDocument/2006/relationships/notesSlide" Target="/ppt/notesSlides/notesSlide35.xml" Id="Rb729f7bb14594ea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8cbe0c0b44ee2" /><Relationship Type="http://schemas.openxmlformats.org/officeDocument/2006/relationships/notesSlide" Target="/ppt/notesSlides/notesSlide36.xml" Id="R254406f79fc1498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91df0098e4a3c" /><Relationship Type="http://schemas.openxmlformats.org/officeDocument/2006/relationships/image" Target="/ppt/media/image8.png" Id="R8a9f03788abb4173" /><Relationship Type="http://schemas.openxmlformats.org/officeDocument/2006/relationships/notesSlide" Target="/ppt/notesSlides/notesSlide37.xml" Id="R55ec66636c7b4d4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c847bf680413c" /><Relationship Type="http://schemas.openxmlformats.org/officeDocument/2006/relationships/notesSlide" Target="/ppt/notesSlides/notesSlide38.xml" Id="R657fac04003a4d1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8a322a94f4273" /><Relationship Type="http://schemas.openxmlformats.org/officeDocument/2006/relationships/notesSlide" Target="/ppt/notesSlides/notesSlide39.xml" Id="R927129b54d05449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a7a531809448f" /><Relationship Type="http://schemas.openxmlformats.org/officeDocument/2006/relationships/notesSlide" Target="/ppt/notesSlides/notesSlide40.xml" Id="R5783df91da38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7C738-B447-434B-8B82-A610A57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03025-5052-457A-B5F1-E03C853B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220"/>
                </a:solidFill>
              </a:defRPr>
            </a:pPr>
            <a:r>
              <a:rPr sz="4650" b="1">
                <a:solidFill>
                  <a:srgbClr val="0B1220"/>
                </a:solidFill>
              </a:rPr>
              <a:t>Kubernetes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B1925-8643-4DC4-9E6B-83EA07FD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33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</a:defRPr>
            </a:pPr>
            <a:r>
              <a:rPr sz="2100" b="0">
                <a:solidFill>
                  <a:srgbClr val="52606D"/>
                </a:solidFill>
              </a:rPr>
              <a:t>Container orkestrasyonu, mimari ve uygulanabilir YAML örnekleri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4B59F-A57A-4A01-82A2-9DAB7CD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334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15261-D357-425F-8B16-ACC721A4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Kavram → Nesne → Manifest → Operasyon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72644-A774-4402-B21B-0F1048B7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Teknik eğitim • yaklaşık 90 dakika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6732C-31C3-49C7-BACB-EF348BA9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71141fdb54986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714375"/>
            <a:ext cx="485775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</p:spTree>
    <p:extLst>
      <p:ext uri="{BB962C8B-B14F-4D97-AF65-F5344CB8AC3E}">
        <p14:creationId xmlns:p14="http://schemas.microsoft.com/office/powerpoint/2010/main" val="1460593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2BC5B-27FB-4B5C-95E8-41257181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YOL HARİTASI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E54CC-A132-4120-91CC-07102309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Bugün altı soruyu cevaplayacağız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566D1-9C19-4594-BFC8-37AABA21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4745A-6E63-4B13-98CD-2A6D9CF6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8B933-10EB-4F2B-B1B2-245C07D4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Neden?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5C608-71D0-4D22-A608-CBDA1FA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Kubernetes hangi problemi çözer?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B9523-7BE1-45C0-9304-81218508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96D5B-6FB0-4109-89B4-405B78DC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Nasıl çalışır?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EFB30-FFC7-4A07-A73E-CAD5498F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Control plane ve worker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DB198-D38B-4897-B1A3-5EBC0D62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F79DF-A816-4BA1-89AC-5FDD65AA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Neyi yönetir?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C3D66-CD3E-484D-9FB9-FF0D3AD9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Pod, Deployment,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45266-3AB9-4277-AB13-2F4F0FAC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06CFB-ADB7-40C0-B5F8-D634CAA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Nasıl tanımlanır?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1EA47-B5A0-4A39-97BF-F47A9829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YAML ve desired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85BCE-D746-4FF5-AE6F-350B793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2A5B8-588D-4F0B-8646-B02E4732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Nasıl korunur?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0B7EA-DF35-4890-ABD0-2EEECDA1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RBAC, Secret ve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8AEAC-85E7-4F76-86D7-1F90755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17021-93A3-430F-8291-69D71FBA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Nasıl işletilir?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0D6C2-4FF9-4122-B793-476C27DC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Gözlemleme ve troubleshooting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D20C7-22FD-4B41-935D-F0F29EC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1024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67104-485C-4F79-B21C-BAB5042D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TEMEL KAVRAM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26502-2CD3-4A5E-8712-41038164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Kubernetes, container’ları istenen durumda tutar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13BB2-108D-4AE4-B16F-9BCD76A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61933-A40A-4999-BD7B-40BD73D3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C5C3B-3864-48A4-A66F-6A66CD42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Uygulamaları node’lara planlar ve çalıştırır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1C311-BE67-4F1D-98B2-36E3A74E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440CE-01AC-47F8-9907-B4DBDA4A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Arızalanan Pod’ları yeniden oluşturur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B2102-C27F-44C1-AC8C-490D3763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09602-B648-40FF-8AF0-FA609792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Trafiği sağlıklı Pod’lara dağıtır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B1A72-23FB-47C6-A25D-92177CF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94BF4-DEAC-451D-B27E-33465AF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Sürüm geçişi ve geri dönüşü yönetir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90FB5-1AFC-4473-B5F4-B373390D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A09AC-A0F2-4B9F-BFF9-E98CDC43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Kaynak ve erişim politikalarını uygular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E1928-AD95-43F7-9D99-FAA0C66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762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930B3-5374-47CB-AD71-9A38258B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Kubernetes bir container runtime değil; orkestrasyon kontrol düzlemidir.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8C3A4-6FF0-44FF-8BA6-3E36417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c6cddd7614094"/>
          <a:srcRect xmlns:a="http://schemas.openxmlformats.org/drawingml/2006/main" l="19984" t="0" r="199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809750"/>
            <a:ext cx="3048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1601295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5FDB6-7471-459F-AE07-F2DEE44C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NEDEN KUBERNETES?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023C3-4331-456C-9199-34F955FB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Neden yalnız Docker yeterli değildir?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B9603-73D9-42BB-8EBA-08F1EEB3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3FBD5-0845-4838-8E66-15243498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1BBE8-81B8-4DBA-B7B7-30410B15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Tek container çalıştırmak kolaydır; yüzlercesini koordine etmek zordur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99ECB-871E-44A0-8831-9BA2C8C1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1BA96-DE92-49EE-9601-ABAF9D66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Host arızasında iş yükünün başka node’a taşınması gerekir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EA84D-BBBD-4545-86A9-E8135708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15A09-EAB1-4CB4-8B63-384D612D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Servis keşfi ve yük dengeleme dinamik olmalıdır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280D6-ED61-4D07-8E52-AEBC427C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C3F34-2ED0-4B8A-A502-EDCD212F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Dağıtım, ölçekleme ve rollback standartlaşmalıdır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FF1D2-DDF3-49BA-8CCB-2683ED46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486E3-DDEF-46D9-86E2-43C24E1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Kaynak paylaşımı ve güvenlik merkezi politikaya bağlanmalıdır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AE9F6-4CBE-45A5-AA91-87F9D95A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921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AEFA5-8036-4BC0-A789-10CEE151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MİMARİ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244B9-4D55-40D1-A25A-2BC3366C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Cluster iki ana role ayrılır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D1DD4-C754-423D-B8E1-05232226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E6C9E-AC99-48D0-9034-9A94F63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0771B-EC76-4C71-8A5F-BDB473EC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AFF71-4BE5-4863-AD2E-3BE18C77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Cluster kararlarını ve desired state’i yönetir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AC55A-36C1-4086-8FCE-DEAF477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BF1CD-A96A-4BDE-B0B2-12E61539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Worker 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7C54E-BF81-4795-BE83-654296C2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Pod’ları çalıştırır ve trafiği taşır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D0F3A-0EE9-407E-99B9-1AD42099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048AC-64B9-4FD0-B146-9FA1F4D9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Add-on’lar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054DC-83B2-4B82-B1AF-D2F1F402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DNS, ingress, metrics ve storage entegrasyonları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18DD0-9A1C-4AAF-9DD8-0B19BB66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1383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789F2-3480-4583-9C56-54F2437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MİMARİ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949F0-0195-4436-B180-23C24696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Control plane: cluster’ın karar merkezi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9BDFF-5DD7-4BBC-BAD5-571FD2D3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27A22-6685-4F9C-BCD6-15AC9E6D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A5211-46FF-4C97-9141-83087E7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CE5"/>
                </a:solidFill>
              </a:defRPr>
            </a:pPr>
            <a:r>
              <a:rPr sz="1875" b="1">
                <a:solidFill>
                  <a:srgbClr val="326CE5"/>
                </a:solidFill>
              </a:rPr>
              <a:t>API 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FF13E-56A0-4D40-BEDD-C044FC51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Tüm işlemlerin giriş kapısı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34564-6B3B-4943-9859-79AAF49D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5143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D91DC-6728-4E47-825E-551F8443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CE5"/>
                </a:solidFill>
              </a:defRPr>
            </a:pPr>
            <a:r>
              <a:rPr sz="1875" b="1">
                <a:solidFill>
                  <a:srgbClr val="326CE5"/>
                </a:solidFill>
              </a:rPr>
              <a:t>etcd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2DCE8-2528-4830-8C69-3024E0D4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Cluster durumunun kalıcı kaydı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0B995-F6FE-4FCE-83A1-975E54CC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143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FF9CE-255B-4125-A77F-83864F0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CE5"/>
                </a:solidFill>
              </a:defRPr>
            </a:pPr>
            <a:r>
              <a:rPr sz="1875" b="1">
                <a:solidFill>
                  <a:srgbClr val="326CE5"/>
                </a:solidFill>
              </a:rPr>
              <a:t>Scheduler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BDB78-1DBE-4ADB-A4A4-843C7472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Pod için uygun node seçimi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E4BB9-D6A8-495F-B9CE-33A6883A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67125"/>
            <a:ext cx="5143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74F1C-1CD1-4C39-8C2E-FDE065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052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26CE5"/>
                </a:solidFill>
              </a:defRPr>
            </a:pPr>
            <a:r>
              <a:rPr sz="1875" b="1">
                <a:solidFill>
                  <a:srgbClr val="326CE5"/>
                </a:solidFill>
              </a:rPr>
              <a:t>Controller 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EEE45-137C-4176-99B8-47397FE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291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Gerçek durumu istenen duruma yaklaştırır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11EBC-EC19-42D5-9ED6-30DBB978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2622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B1D54-2327-47A4-B278-66EEE5D6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MİMARİ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8FA67-757D-4F45-B219-4B9AAEDF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Worker node: Pod’ların çalıştığı 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86B6F-2F99-42A8-9DF0-6C9E767E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84259-FD57-423F-BE0E-E6CD0675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E98AD-6731-44D4-8DC3-988C008F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kubelet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C1370-E4CA-45F0-AEF3-74ED096C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PodSpec’i uygular ve container durumunu izler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DA4E1-7C45-43AE-8883-157AE0C7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6D9B9-3B00-4A24-9002-BBB0B46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Container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7AA42-1A41-49BA-8F3C-F9A6A5FF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containerd/CRI-O ile container çalıştırır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CFD00-C169-4500-9246-B73724DC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3900C-44C0-4498-B6F0-DABD8D98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kube-proxy / eBPF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5A30B-2154-4C5B-AD43-8051CD58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Service trafiğini Pod’lara ulaştırır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6C186-F03C-4989-B8CB-82FE203D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02BA6-E380-4FAE-857B-530FB76A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CNI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B2A6D-F254-4800-9BA3-D2F07F8C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Pod ağı ve network policy sağlar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7345C-147A-46DF-A0E8-B7ED0541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BF35E-75FC-4AEF-A85E-87DCD044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CSI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8B41B-A0A2-452D-B725-AD91DA31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Kalıcı diskleri bağlar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BA5CA-A740-4C1B-AF28-82536E7A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F6B47-5878-4701-B2FC-132D181D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Node 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5002C-588F-4718-AA9D-2DA88AE6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Kernel, cgroup ve network temeli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53F43-EF80-43A9-BD5A-B99232FE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7219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80CE7-7721-4B3E-88FC-AD085DBF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ÇALIŞMA MODELİ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8D6D4-11E1-4392-88F2-DE838440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Desired state, Kubernetes’in temel çalışma modelidir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2F289-7CB3-4B62-B3B4-7302B572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73030-A405-4A38-9AA9-DBF33CCD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C87A2-27B5-4E2B-A536-93EBB7BD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YAML ile “ne istendiği” API Server’a bildirilir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4617C-C604-4AB0-81A1-344DA367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5D840-1522-40C1-B5B4-AD74EF20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Controller’lar gerçek durumu sürekli gözlemler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5AE11-E475-4331-B176-9C5EB7A2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F2B33-F9FC-4295-8321-E9017E85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Fark oluşursa düzeltici işlem uygulanır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7D555-0932-433E-AB44-6F7EC280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32D49-B900-4D59-9EC3-EA88485E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İnsan tek tek container başlatmak yerine durumu tanımlar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D8C6D-BEA4-4715-9306-BF975C1D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762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ECABC-C6B9-4516-9A54-01E4505D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Tanımla → Gözle → Uzlaştır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39232-66A9-45E8-92C4-AF0E33C2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391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723EE-A66A-44CD-8199-E6207B5F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TEMELLERİ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8BBEE-D475-46A0-86FB-C64B6293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Bir Kubernetes manifestinin dört temel alanı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E7EDF-B428-4B4D-A849-9BAFC6EC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78302-2931-4819-9B35-30714F8B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E8F47-40FF-43EC-8B84-0CC752C0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apiVersion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260DD-C7B8-424B-BE62-34244493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Nesnenin API grubu ve sürümü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45C02-15C1-4A17-AEFB-97441DE3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F4471-234B-437F-A9A7-D87296A7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716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kind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7666B-2365-4CB1-90E2-7D8C486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669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Oluşturulacak kaynak tipi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118A0-FC30-4FF8-8B9E-EF7EF8B0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04D43-72AC-4786-9F50-63D0E4AA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D8EB3-CA13-4664-9BA7-A9C621D2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Ad, namespace, label ve annotation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11CB7-EDDC-4D69-B73D-1D1B96E0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71875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363BC-0386-4D06-95D8-EC632D32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814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spec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37027-72AE-4264-A188-BD395FDA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767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İstenen durum ve nesne ayarları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3888A-8ECB-4791-95FC-8C20DC84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7919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B8DCE-806A-4AC1-8581-A934769A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F9A60-ADBC-4771-94CB-374BAFE7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İlk Pod manifesti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86D83-0D43-402B-BE79-84C73627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35A7E-112D-44F7-AE5A-DE584A74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00493-8EFC-4DDD-82BD-489B9E41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Pod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nginx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labels: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app: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spec: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containers: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- name: nginx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image: nginx:1.27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ports: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- containerPort: 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877C3-FE4E-475D-8DB7-6BDC18EE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371CB-4ED9-4597-9E70-096EF84A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Pod, Kubernetes’in en küçük dağıtım birimidir.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Üretimde çıplak Pod yerine genellikle Deployment kullanılır.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F1E86-890F-4896-AC53-521385C5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4116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68FF3-8495-4868-8960-643961FA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POD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B5BEB-B48F-4DAB-B5B8-ED2E754F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Pod, bir veya daha fazla container’ın ortak çalışma alanıdır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83D3E-5507-4B8B-80CD-8B5D3150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3EDFF-4130-481E-B807-3CEA6DC6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3EBD3-6A5A-465B-B85E-E6A382BB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Aynı Pod’daki container’lar aynı IP ve port alanını paylaşır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008A7-BC74-46A1-8FD8-F01B8E4E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30ACE-7198-4F6D-BBD9-EEDAA6EE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Volume’lar Pod içindeki container’lar arasında paylaşılabilir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D9289-63EA-46DA-8915-E41E075F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AF0CB-7DDF-4D4B-84D6-7E0B8909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Pod geçicidir; yeniden oluştuğunda IP’si değişebilir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2EA51-7314-46AD-878F-ECE55A09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C791A-55C9-47CF-8663-019D7E5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Sidecar yaklaşımı aynı yaşam döngüsündeki yardımcı container’ı kullanır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80589-FE54-482A-A0AF-25E19CDE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764acb3574bc5"/>
          <a:srcRect xmlns:a="http://schemas.openxmlformats.org/drawingml/2006/main" l="20981" t="0" r="20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762125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2799602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77F68-78EC-4833-94BB-84DEE382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79952-BD3A-4432-AB3C-78255673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Deployment, stateless uygulamaların yaşam döngüsünü yönetir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5842B-A407-4ED4-B38C-5CF64BED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8100F-D928-4566-ABE4-2FDAB1F3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3A41F-B402-498D-9B36-273F0246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ReplicaSet üzerinden istenen Pod sayısını korur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5168A-D068-4566-A8AE-D10B3D68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00495-5DE8-46C1-B504-22F9EFCD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RollingUpdate ile kesintisiz sürüm geçişi sağlar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23DF8-2ABD-4118-9F10-55BF25F1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08D4A-FDA4-4EF8-B11C-3B9D4CBF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Revision geçmişi üzerinden rollback yapılabilir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8F385-7C53-4EFA-B421-6F45C27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88854-4EFA-4398-A864-376EE8E7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Label selector ile yönettiği Pod’ları bulur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D9035-10B6-48E6-9BE3-49A74E0A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762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C2AE8-91B6-49F2-82BC-1A187A8E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Uygulama için varsayılan başlangıç noktası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3638A-2EE8-4756-9D53-03FBE5FB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96562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1FCC3-F653-4BCF-9A78-1F56A971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9D7F2-28B6-4ABE-ACA5-919298CE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Deployment: üç replikalı web uygulaması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1B7C6-B8CB-4542-BA4D-D10F4C5B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DF60C-6E0B-4CC7-B3F6-832B112E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7971F-0304-4F78-B632-21F18C1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apps/v1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Deployment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spec: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replicas: 3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selector: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matchLabels: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app: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template: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labels: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app: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spec: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containers: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- name: nginx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image: nginx:1.27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ports: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  - containerPort: 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A880C-0553-4412-A457-704DDDE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73954-A7A2-4E57-87AE-AC8E1F31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selector.matchLabels ile template.labels aynı olmalıdır.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replicas: 3, üç Pod hedefi oluşturur.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41003-A70D-4919-A888-CD556E87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6348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F2E70-EB82-4D12-987B-D3D485A2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38AD4-B38A-4210-A17B-90ACA95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Workload controller seçimi kullanım amacına bağlıdır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D7997-693D-4A5C-9ED2-0BD3C8AE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0A5DC-5C8F-410B-A937-63B28461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E0554-3D37-4EBF-9375-A3C80D4E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2F572-EEC2-44F2-8F89-F32E6401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Stateless web ve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1F46E-FE82-4149-9C5A-0992588D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DDE6F-821C-4E75-A80E-8F854C9B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StatefulSet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8CF99-A0C1-4943-9683-0EF0AAA9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Kalıcı kimlik ve sıralı stateful iş yükü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1B271-D027-46E9-92BD-352885CB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5B11F-A0ED-44AC-9217-4E012E69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DaemonSet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A3D9F-D3DF-4204-9A5F-67F7D7D6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Her node’da bir Pod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8C38C-A567-4C5E-8232-CEACB0DF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27562-1B7A-4CBF-A59D-2CC152EF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316D8-AA43-4CB5-893D-D3E5DC44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Tamamlanıp çıkan görev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EC656-455F-469C-8541-10904557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35447-8CE0-44A1-A0D0-866E1C2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CronJob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4119F-953A-491E-861C-2F02E9F8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Zamanlanmış görev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F2E8F-9863-44DE-B37A-EEAC1584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2656F-C113-4C7F-B28B-1491869B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ReplicaSet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CB54D-1BDD-4545-9745-DE66A645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Genellikle Deployment tarafından yönetilir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BE327-581E-467E-B93B-524C57B6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020119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2D5A5-EA38-45D8-92D2-0696C3BE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91470-FC7A-4AAF-8EAF-B55F1CAA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Service, değişken Pod IP’lerine kararlı erişim sağlar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01EAB-3F9E-4AC4-80F6-AEF58800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102F3-B0D3-4375-8F18-8CDA3C5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17130-C0CC-4B35-92BD-BF99FB51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Label selector ile hedef Pod’ları bulur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9050D-60E7-424B-9C90-760D528E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5AA8A-FB37-4384-B792-BB0360EA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ClusterIP yalnız cluster içinden erişilir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9FAD7-5D43-4A78-A008-56062D0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3DDE7-C913-4A37-B321-81680A0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NodePort her node üzerinde port açar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F4159-CD38-4A5D-A85B-572C4994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554B8-06F3-46A4-9C36-6679132B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LoadBalancer dış yük dengeleyici entegrasyonu sağlar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FF232-9640-4F68-8BB9-76B0D597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3CE50-7923-475B-B3D3-9CA28F4E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Headless Service doğrudan Pod DNS kayıtları sunabilir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32B4C-043B-4AA2-87BC-95E22901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15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f6fb63ec24b69"/>
          <a:srcRect xmlns:a="http://schemas.openxmlformats.org/drawingml/2006/main" l="20981" t="0" r="20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762125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11049511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F3F6B-7AB1-4C46-8766-33A7515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2E9EC-5976-48F6-9CD6-A680FE20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Service: Deployment’ı cluster içine açmak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BCB3B-C8CD-488E-AE58-EEAF5E2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F3E5B-EE2B-4462-803F-06EB58F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2993A-4143-43D9-A199-BAA5E45D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Service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spec: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type: ClusterIP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selector: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app: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ports: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- name: http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port: 80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targetPort: 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D8F13-BF30-4078-962A-F33124B9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1B828-A06D-4625-95CE-5C2469C1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Service selector, Deployment Pod label’ıyla eşleşir.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İstemci web.default.svc.cluster.local adresini çözebilir.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F95C7-E2B4-4C6D-9703-201657AC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656025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CB7B2-BE16-477D-BF9F-F4F852F1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INGRESS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50EBC-8B82-48F9-91AA-31C6ABA8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Ingress, HTTP/HTTPS trafiğini host ve path ile yönlendirir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0322A-9DE0-4C87-9310-694DE6BE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B8AE7-51B8-4B1E-BD94-B9102FB1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E0580-56A6-4AC5-AA75-F51A4D00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Ingress kaynağı yalnız kuralı tanımlar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3EF46-1836-4362-9646-28F5583B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1A614-EB3E-4997-B987-7502D6E4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Kuralları uygulamak için ingress controller gerekir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ABD70-9141-4FD8-A043-2F6AFA43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2F442-0699-4B8C-992C-09C7B63C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TLS sertifikası Secret veya cert-manager ile yönetilebilir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2BDEA-A76D-4B84-BF1D-91C11D90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D3728-870E-4A1E-89D4-2782B4C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Yeni kurulumlarda Gateway API de değerlendirilebilir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E7212-F85B-4BB2-9CDE-64A3340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006506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559FB-531C-4E97-ADB5-BC588B4A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250ED-D1CC-4189-8DAF-23E7577D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Ingress: alan adını Service’e yönlendirmek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FBEB1-EAAA-4E2E-8AF5-EA23090F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57077-1D26-442F-8D27-FE4AA4B9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E20B7-7BE8-44F4-AA2B-FEAD4ACB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networking.k8s.io/v1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Ingress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spec: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ingressClassName: nginx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rules: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- host: web.example.com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http: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paths: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- path: /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  pathType: Prefix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  backend: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    service: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      name: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      port: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        number: 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07C7A-D787-45F0-9351-73A56D42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23511-23EF-4C79-9681-A7DA9165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DNS kaydı ingress adresini göstermelidir.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Ingress → Service → Pod akışı oluşur.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C1EBA-D238-4543-8F8C-F02B2163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63879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E96EC-AE4E-49AE-9E0C-0F16EB07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CONFIG &amp; SECRET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53CD4-73D0-45BD-916E-4AFA9240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Yapılandırma ile gizli veri birbirinden ayrılmalıdır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3A021-9000-4F73-8620-D697821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A5A97-90E5-4681-9E7F-DCE0553C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15B95-BEE2-44A3-8736-123ACC41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ConfigMap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D1A2E-0289-4BF0-856B-CD584FA9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Gizli olmayan uygulama ayarları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2E5AF-127E-4236-80EB-3F9A27EF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0DB22-6263-4DE3-A441-26176F0A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Secret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C8FAA-DA40-4098-9233-F351DB90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Parola, token ve sertifika verileri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64D8E-CA60-41B1-B7C8-25DB48B3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7EDA1-6624-4AC7-99E7-9C5685FB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657B4-33FA-4182-976C-725B8DB6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Basit anahtar/değer enjeksiyonu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EC068-D0A3-4C62-B56C-4AD7EF7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DF327-D799-46A8-A59E-F8705F88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Volume mount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BA447-FA57-48E0-81F0-3987EB64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Dosya olarak yapılandırma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3F097-BD5F-46AC-ADF5-780A819A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49A54-9DCF-4AC3-839B-715E3876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External Secrets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396D9-536F-480A-9EFF-926A8DC7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Harici secret manager entegrasyonu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591F7-9F71-4910-A56F-DFE505A3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51F14-0C02-4DA4-84D9-F85ADFD2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Immutable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94F23-74B0-474A-8519-80D91926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Yanlışlıkla değişikliği sınırlar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0528E-459E-4127-9A8C-4E994364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46756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F4A9F-3F91-4921-842B-6FD1FCAF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5FE80-131A-4BAA-901C-F0482DE2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ConfigMap ve Secret kullanımı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5A443-82D1-486F-A42F-46657D7B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CE26F-2B62-4B0D-97E4-CE5D7F4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52BD0-C383-4985-9BB4-C4419B8B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ConfigMap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app-config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LOG_LEVEL: info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---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Secret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db-secret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type: Opaque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stringData: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password: change-me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B8C10-2086-4E3E-8246-3AC06ACC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3ECC3-25F9-4F06-8C13-5238C92F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Secret base64 kodlama sağlar; tek başına şifreleme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Üretimde encryption-at-rest ve harici secret manager kullanın.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56CA8-625B-4352-97AA-1F05DD05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910460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4667E-7DC3-47D5-923B-5C048A34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HEALTH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35EC6-5389-4FE6-9D4D-B570A833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Probe’lar trafiği ve yeniden başlatmayı doğru yönetir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AD685-57EA-435C-8078-0E2912CE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BE0D5-74D8-4180-AC59-78CA7DD9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695C3-D5B4-47B4-9F40-6A17F6E9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startupProbe: yavaş başlayan uygulamaya süre tanır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B7362-B55D-4380-8801-A5E9D1CE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B1542-92A0-430C-9536-CF925C55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readinessProbe: hazır olmayan Pod’u Service trafiğinden çıkarır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3655E-BCBA-49E5-9E2F-C393743A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DA76A-9633-4A47-8C1A-C1D33541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livenessProbe: kilitlenen container’ı yeniden başlatır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46B51-0570-48C9-BF84-F0C108CF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0DAA0-DEC3-4C33-8854-4E054417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Probe endpoint’i dış bağımlılıklara aşırı bağlı olmamalıdır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F34DF-0D57-4DCC-9074-74662C16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310637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AD771-25D6-45DE-A360-1A471FAF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D5548-67A0-4D5F-A907-537E61E5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HTTP readiness ve liveness probe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E83D4-6D92-4050-9782-DA499749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BBCE2-3472-4705-AE97-F422AF19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CD69E-AF1C-4E49-AC89-3DCD4D1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containers: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- name: app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image: example/app:1.4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readinessProbe: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httpGet: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path: /ready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port: 8080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periodSeconds: 5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livenessProbe: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httpGet: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path: /health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port: 8080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initialDelaySeconds: 20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periodSeconds: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424D1-57C7-4B10-BCE2-49419C4C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5C1F4-B6D4-48B8-AD14-3817891D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Readiness başarısızsa trafik kesilir.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Liveness başarısızsa container yeniden başlatılır.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7545F-6364-49D9-95AD-657F2144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49545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B7BC3-38C2-40D7-A3B0-0A241243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KAYNAK YÖNETİMİ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EA419-083A-4584-93B3-85750B0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Requests ve limits, scheduler ve runtime için farklı anlam taşır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DAB94-5D19-457D-A8E1-D9809E2D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94464-D800-4250-B1BD-C4D80BBB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C591E-A18D-4C6F-98BA-2DAF6E03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request: scheduler’ın yerleşim hesabında kullandığı garanti talebi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966B9-4444-4C35-AF13-9F9CC71A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8FF63-F6B5-4BF7-9E30-3A6360AC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limit: container’ın aşamayacağı üst sınır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047D6-A5B5-4EA1-B2BA-8925997A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1D394-1BE7-407F-9C9D-AF058A07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CPU limiti throttling, memory limiti OOMKill oluşturabilir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86CA5-BF2A-4135-9D52-9841A903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45B9C-5DAE-40A9-9A7C-F28A178A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Request tanımlanmayan cluster’da kapasite planı güvenilmez olur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9CF7B-265D-4A2F-BEBB-A75B9501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234831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5B3B5-1451-4007-94E8-A9245286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3617C-AFE2-496C-AECB-798E082B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CPU ve bellek talepleri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69268-8693-4150-BA57-BB0F4C0E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67A33-4721-4053-8DE2-0C2AC595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B6D85-BF16-4924-B535-CD5D7152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resources: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requests: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cpu: 250m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memory: 256Mi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limits: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cpu: "1"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memory: 512Mi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7ADE0-F815-4033-B184-0F6DD7B2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ECCD2-5911-4833-9D1B-7F63FC3B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250m CPU = bir çekirdeğin dörtte biri.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Bellek limitine ulaşmak OOMKill ile sonuçlanabilir.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F3FA0-7D36-41E9-B43A-D7F1242F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636047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F18C2-4892-4242-BE6F-2DB8DBC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431AB-30C4-4BB2-BADD-2000F805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Kalıcı veri, Pod yaşam döngüsünden ayrılır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58A6B-B50E-49DD-AF31-51378E36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5D85D-8AC2-4ACF-BA69-8A25428F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AC438-571C-45A8-B6A0-2944BE82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PersistentVolume depolama kaynağını temsil eder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DF16B-8992-4610-B326-A89CFD69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90C65-C89E-4C8F-8CDF-7FA63BE5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PersistentVolumeClaim uygulamanın disk talebidir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937A7-AABE-4764-A5BA-7A90CC0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35738-AB2E-4D87-8971-486DC25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StorageClass dinamik provisioning davranışını tanımlar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3886A-5800-4126-B7D3-98BD261E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3E56F-7C71-40D1-AEDD-E8971D1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CSI sürücüsü Kubernetes ile storage sistemini bağlar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CC254-1FFC-4181-9FD4-47A70FD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6a17bd5d54825"/>
          <a:srcRect xmlns:a="http://schemas.openxmlformats.org/drawingml/2006/main" l="20981" t="0" r="20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762125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3739548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AFD3D-BCB2-409B-B982-AD504FAA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B06D0-1EED-4442-B684-8D3BBFC5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PVC ve Pod’a bağlama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251B9-2B1E-43B4-A188-4BB26AC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A790A-D252-4587-AC1B-C1D1E7B3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2FC4B-F1AA-41AC-86C9-D96B4C8E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PersistentVolumeClaim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app-data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spec: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accessModes: [ReadWriteOnce]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resources: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requests: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storage: 20Gi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---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volumes: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- name: data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persistentVolumeClaim: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claimName: app-data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BF1F3-A4FB-4BE3-8C46-51B8E07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507E1-A9AA-4778-A04A-36DC6041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StorageClass varsayılan ise disk dinamik oluşturulur.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Access mode, storage sisteminin kabiliyetine bağlıdır.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CD180-B541-40B7-9FF4-359C9327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444227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11101-F0A5-4584-A373-025420AC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SCHEDULING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9B7F8-6259-4FA7-B44E-420C6DE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Scheduler yerleşimi politika ve kaynaklara göre yapar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E9527-C7F5-4D3A-9B45-EA18B488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974C8-19ED-4E10-87AB-1250F3D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90C62-EE12-4B77-84E9-761706D8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nodeSelector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AD9B4-63D2-434C-8728-038F4296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Basit label eşleşmesi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83EFA-B40D-4909-813F-0945486B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7AA06-A134-44E5-85FB-1DB94579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Affinity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6BFFA-BB68-4301-A428-BCBF7A61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Gelişmiş node/Pod yakınlık kuralı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2637D-F8F3-43F6-994D-FC50243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B16CE-C524-4261-8DD3-08AAD966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Taint / toleration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896BD-3017-4145-902E-8CB4FDF5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Özel node’ları koruma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9ADFE-C487-4FEB-A202-9A36F19E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5E84E-3AC8-4E6C-8694-CDCDF87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Topology spread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310BE-152D-4A8F-BB47-C4B4B811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Pod’ları zone/rack arasında dağıtma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BF5E4-7B88-4460-9EAF-C7EE36C5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10E2F-6D0D-426D-8697-047B2DDB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PriorityClass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79443-48F9-4A78-8221-0655EC26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Kritik iş yüküne öncelik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0006A-968A-4F7D-844B-4547CFCD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8D1FF-6BC3-40E8-91FE-2B09E35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PDB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DAB52-99E9-4928-BF99-230B55AF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Planlı kesintide minimum erişilebilirlik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28F46-6D0C-43A5-BCFE-646CAD2A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752274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6AA46-AFE3-440C-84AE-6C663FD1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AUTOSCALING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8C5F5-1D74-4F44-B18F-D219E876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Autoscaling üç farklı katmanda çalışabilir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9DA23-9295-4C36-ABD5-FEABD541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722A6-07B7-4B92-8614-E8AD64FF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AFEF0-DC84-4C28-AC8C-6548E6EA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HPA: Pod sayısını metriklere göre değiştirir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4DE77-CB62-4E61-A0B7-623DCF06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FFB4C-A9B3-4B53-910E-718D2180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VPA: request değerlerini önerir veya günceller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E15AC-CE4A-4067-9B06-0803976F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37497-453A-4954-A088-6D1076BF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Cluster Autoscaler: node sayısını kapasite ihtiyacına göre ayarlar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B1B60-BB75-40D4-A9CB-0E10926A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B2EDC-5D8F-4507-AB69-C7766FCA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Ölçekleme için doğru request ve güvenilir metrik gerekir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B70A1-7882-420E-9131-45D90279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2eaa1b793426d"/>
          <a:srcRect xmlns:a="http://schemas.openxmlformats.org/drawingml/2006/main" l="20981" t="0" r="20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762125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16403596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71A7E-F273-4090-A905-4DCCA9A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3061D-F043-471A-8599-6F2BDE6D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HPA: CPU’ya göre 3–10 Pod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0CAC1-91EE-4655-9AFC-7E2DFEC7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E642D-D7E1-4B71-8846-9EDE727A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545FA-C6DC-40FA-BA09-E45F3604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autoscaling/v2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HorizontalPodAutoscaler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spec: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scaleTargetRef: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apiVersion: apps/v1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kind: Deployment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name: web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minReplicas: 3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maxReplicas: 10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metrics: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- type: Resource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resource: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name: cpu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target: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type: Utilization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      averageUtilization: 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F9E2B-9CFA-437B-AE9E-16D16DA1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6A31E-6FA9-4444-BBBC-23F8869D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metrics-server veya uygun metrics adapter gerekir.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CPU request tanımlı olmalıdır.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5915D-C11D-4568-9E73-B30EDDF1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2207615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7218A-8C97-4DFE-87EB-5366781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GÜVENLİK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9C438-EF63-48FD-B909-8172405A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Namespace ve RBAC erişim sınırlarını oluşturur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CE713-8303-4369-8176-31524DC5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BDF22-D8D5-4A57-B6A3-38C032EF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04AC8-3D85-4C27-8C33-55EDB579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Namespace kaynakları mantıksal olarak ayırır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300D7-DA03-4304-992B-10CC743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121E4-F799-48D6-B417-70780DF3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Role namespace içindeki izinleri tanımlar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F4456-BD91-4FAC-9C0D-058F1A95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43E20-F192-425F-A07E-9C044D2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ClusterRole cluster kapsamındaki izinleri tanımlar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52B92-588C-42A4-89F7-C54345C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4B947-3814-4B53-91F6-0479F546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RoleBinding kullanıcı veya ServiceAccount’a rol bağlar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D4D9C-CC80-4F6F-8C19-07E17341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143F3-524C-48C1-90F5-9E3C34AB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En az yetki ve düzenli izin gözden geçirme uygulanmalıdır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AC21F-52EE-4DBD-9098-DBAAA7EC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095775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08B12-CED7-4058-9DA6-EB72A92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YAML ÖRNEĞİ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5E160-9122-481F-88EC-EC2FCAD6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RBAC: yalnız Pod okumaya izin vermek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600ED-95EF-4FF4-9B2B-D090F4D8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0A8E-4727-476A-A24C-3576CC26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23900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11407-AF97-4EA1-BD14-11CB337A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7627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rbac.authorization.k8s.io/v1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Role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pod-reader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namespace: demo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rules: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- apiGroups: [""]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resources: ["pods", "pods/log"]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verbs: ["get", "list", "watch"]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---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apiVersion: rbac.authorization.k8s.io/v1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kind: RoleBinding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metadata: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read-pods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namespace: demo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subjects: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- kind: ServiceAccount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name: viewer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  namespace: demo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roleRef: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apiGroup: rbac.authorization.k8s.io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kind: Role</a:t>
            </a:r>
          </a:p>
          <a:p xmlns:a="http://schemas.openxmlformats.org/drawingml/2006/main">
            <a:pPr algn="l">
              <a:defRPr sz="1200" b="0">
                <a:solidFill>
                  <a:srgbClr val="DCEBFA"/>
                </a:solidFill>
              </a:defRPr>
            </a:pPr>
            <a:r>
              <a:rPr sz="1200" b="0">
                <a:solidFill>
                  <a:srgbClr val="DCEBFA"/>
                </a:solidFill>
              </a:rPr>
              <a:t>  name: pod-reader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69AE0-57B2-4139-BBEE-51A1919A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26E68-1ACB-436D-8D24-183CDFF4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Role yalnız demo namespace’inde geçerlidir.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Wildcard izinlerden kaçının.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6B797-FCF1-4C40-A27D-C040BEA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7906573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C7FD0-6CA7-4CB2-A8A3-2AE0B44A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GÜVENLİK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4F8F7-1B0A-4B19-9791-4E5B635D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Üretim güvenliği birden fazla katmandan oluşur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DB652-57EB-4E70-B29E-EB74922C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9BB4-09F2-4BAF-937B-315088C4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21A78-ED7C-4C7D-B115-D5617C05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Pod Security Standards ile ayrıcalıklı Pod’ları sınırlandırın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14BC0-6AE0-4159-AD22-CFFDA321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65D94-D4E3-46BC-8AD7-8406FD12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Non-root, read-only filesystem ve capability drop kullanın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91FB2-9731-4652-A7D0-CC9388F1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DF24C-81A1-4F03-87F6-4E5D21AA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NetworkPolicy ile Pod trafiğini izin listesine bağlayın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FD770-5BEA-40AE-A10D-26D2890F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6E2EB-1A7F-4652-961A-056554F8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İmaj tarama, imzalama ve admission policy uygulayın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E2674-8FBF-4D5E-92A0-0584BEFC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88F06-4756-4BE5-9D4E-3028DFF1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Secret’ları Git’e düz metin olarak koymayın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1F080-F0FF-4B51-987E-3FECC6C6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32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6d95413044cef"/>
          <a:srcRect xmlns:a="http://schemas.openxmlformats.org/drawingml/2006/main" l="20981" t="0" r="20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762125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141988216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4D316-80FA-4DA2-A182-83A00D66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8AE10-B9A6-46B2-A6B7-3EDD2B6B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Kubernetes ağı her Pod’a yönlendirilebilir IP modeli sunar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21A07-5987-4F37-A693-3201C746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CB44B-B8DC-47E2-B49F-AF9B7D4C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B7D84-3753-437B-A42F-D1E3D32A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CNI Pod ağını oluşturur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FCEE4-4992-46C4-8CD2-F02D0B1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E32D9-D899-4039-B133-0307CF4D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Service sanal IP ve servis keşfi sağlar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0FEF1-3FEB-4854-93A1-DFFBADC2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1A01A-61C6-4544-B479-D3D5CBA4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CoreDNS servis adlarını çözer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6F6A0-86D4-4FE9-98C4-5A7B4755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30829-E45D-4F84-968D-5A6C32EE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NetworkPolicy destekleyen CNI ile L3/L4 politika uygulanır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2004E-77A6-4DE1-B8C9-AA5C7F7F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7D4D3-9FC9-429F-BD3B-55477344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Ingress/Gateway API north-south trafiğini yönetir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BFEBB-D478-4C2E-95FD-6359CB9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3237342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0111A-5400-4490-889B-E377036B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TROUBLESHOOTING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B07C8-0C64-409D-B2A8-133C903A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Sorun giderme, istek akışını katman katman izlemektir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6CBC7-F5CF-4E19-B157-294073CE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9B7F6-1F91-49E9-B8FC-C90A1A0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49798-1FF0-4FF0-8105-D31C7AE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kubectl get/describe ile nesne durumu ve event’leri kontrol edin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FE507-491D-469E-9818-4323CD38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F4035-6D96-46F5-A992-9F301D84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kubectl logs ile uygulama ve önceki container logunu okuyun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8B697-7D81-4766-9C07-C7296CB9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20772-6D68-4E08-A313-DA6537AE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EndpointSlice ile Service’in hedef Pod bulduğunu doğrulayın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AAE4B-316B-4B66-A34F-4210C86D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7EBA7-9236-4F21-8048-D9A10D4B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DNS, NetworkPolicy, ingress ve node rotasını ayrı test edin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059CC-3CE8-4338-B9B1-1FAFD5DB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AA5AC-BA58-44D0-8521-3B24D07A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Kaynak baskısı, restart ve OOMKill nedenlerini inceleyin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791AB-FF3F-469D-A32E-D106F6F4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7622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0FD5E-47BF-465D-A873-3F6ED3EB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Pod → Service → DNS → Ingress → Dış ağ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3360A-3616-4CC1-9FE6-C1FBF52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303979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02249-FF87-4F7E-8539-478BD500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535F2-E365-4C2F-98AC-BA38962C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Gözlemleme dört sinyali birlikte toplar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FC158-D63D-45F4-B72A-4E3C66A5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36AB5-0D90-4749-B7B2-02061BAC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52553-7D84-4F1E-9C7B-E3251165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Metrics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52644-1B93-4DC8-9216-E4B376A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Kapasite, hata ve gecikme eğilimi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AC9B5-15D2-4B57-B6D0-B15D31FC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0D08B-50B7-4F17-AD97-5ABA7D56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C2676-EA7A-4DA5-80F4-1ECF6870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Uygulama ve platform olayları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88A76-025F-47D1-BEF4-74B23031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AB9B6-EB59-4FDD-B1EF-A6AB5089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Traces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8AE32-CD91-4E73-9F26-00B08256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Dağıtık istek akışı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D1EC4-E20C-4C4E-8927-3C61C58E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50216-3F73-42B7-B436-9429BAFA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E8AD9-9C7A-447D-8A63-6237459E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Scheduler ve controller kararları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ECB64-4C40-4CCD-AD11-C4F97A67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2191A-2C67-4B05-B0B1-04E4A60A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Alerts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E90B6-7547-495E-8A8C-73F9B637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Kullanıcı etkisine göre bildirim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6A34F-3740-4A77-BF44-0F8D7A02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8AB71-6EA5-42ED-A872-C51EBEB0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SLO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60F7E-C1E9-4334-8C88-CA1611C9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Hizmet hedefi ve hata bütçesi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937B3-50BC-4507-A518-D68555C1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6809919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38929-7AC4-4A94-B0B8-C8691335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DAĞITIM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27461-7898-4FA7-9C88-95F2624A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Rolling update kontrollü değişiklik ve hızlı geri dönüş sağlar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5DA73-09A7-4CCF-A4D1-A9B0AF3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CF6FF-842F-4A02-98C1-449904CC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CCDE6-B579-487B-AE43-7C42B6DC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Yeni imaj: kubectl set image veya Git manifest değişikliği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DD9F1-B7E0-438F-BD07-455AF018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8B73D-649C-4804-85F2-F9677CB4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Durum: kubectl rollout status deployment/web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DEB24-C711-43B8-B102-282B38F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3F06D-B651-4048-8B36-705CC7E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Geçmiş: kubectl rollout history deployment/web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DF842-6E9A-4AC0-9A16-574B4D23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32904-7A7F-44FE-ABF6-1CFB05DC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Geri dönüş: kubectl rollout undo deployment/web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CE2FC-527F-4BD8-9CAD-52EFF621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A9EF9-F769-418C-A617-7951153C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readinessProbe hatalı sürümün trafik almasını önler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4FF55-873F-4439-B2B0-7862126E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6963566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F79EC-C9DA-4243-9079-88D93F85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GITOPS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6EDB6-B922-448B-8AAF-C1AA73F5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GitOps, cluster değişikliklerini denetlenebilir hale getirir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677A8-CD5D-4520-888F-952DDDED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13E70-DA83-49DA-AB74-73D57ECF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2CBDC-15B5-480E-AC6C-4C67EC81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Manifest veya Helm/Kustomize tanımları Git’te tutulur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DF5D4-36F6-4F93-B5AD-8A3C9DB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583BE-5B56-4CFA-BCB7-2630FCCB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Argo CD/Flux Git ile cluster arasındaki farkı gözler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E3DA4-0263-438F-9E54-A5E05DA9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3BFF1-030C-4A2C-8B9E-1D0BE455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Pull tabanlı reconciliation drift’i düzeltir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45919-D1F6-4F15-818D-EDC2FB95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D3F9C-2F5F-4E01-BACF-391E0C70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PR süreci değişiklik kaydı ve onay noktası sağlar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99ACA-D0A8-4DD3-9871-8AD3E3F7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6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F4615-3A10-4A7F-9A61-448DC9D6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</a:defRPr>
            </a:pPr>
            <a:r>
              <a:rPr sz="1575" b="0">
                <a:solidFill>
                  <a:srgbClr val="0B1220"/>
                </a:solidFill>
              </a:rPr>
              <a:t>Secret yönetimi GitOps’tan ayrı güvenli akış ister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17438-E7BB-45FB-8136-137221DD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37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f03788abb4173"/>
          <a:srcRect xmlns:a="http://schemas.openxmlformats.org/drawingml/2006/main" l="20981" t="0" r="20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762125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19805884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39C24-3894-4CA9-B1C3-596DECB5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17438-3013-4F6C-A40E-F02140E6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Üretime çıkmadan önce temel kontrol listesi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BA364-F8BF-4FE7-92A5-C99345F5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494AA-F458-47A3-92FC-4E585CDE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4A3CB-93A6-45FC-84B8-7E3CE67D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Availability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AE232-7F01-44D6-8CB1-4125B3F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Çoklu replica, anti-affinity ve PDB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AEDCC-EDF6-4368-86C2-DF4154ED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CB8A4-14C8-4410-968D-180A0DE7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Resources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EDC2B-5751-4711-935A-C1191116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Request/limit ve kapasite payı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888CE-1005-4C0E-AD73-A8BB423F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9B591-DA80-4A0B-9223-81C01A96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D76C0-EACF-414E-A1AE-8D58789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Startup/readiness/liveness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45572-A660-43E2-9805-0A481029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3F0C6-64DC-499A-B36C-BF7EB40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AE485-B928-438F-B632-750F5095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RBAC, policy, image ve secret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CA6F3-1F18-4CDC-856C-5A54E1D1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DD384-63DB-44E4-AA53-CE077B4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BC8C1-E4F7-448C-81DD-835556D6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Yedek, restore testi ve StorageClass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A8FCC-9ADF-48B9-B531-0F368E96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342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ED1A2-749C-4143-B5D8-6A60CB25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6CE5"/>
                </a:solidFill>
              </a:defRPr>
            </a:pPr>
            <a:r>
              <a:rPr sz="1800" b="1">
                <a:solidFill>
                  <a:srgbClr val="326CE5"/>
                </a:solidFill>
              </a:rPr>
              <a:t>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EEEED-AB0F-4673-BBE3-A76800E6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Metrics, logs, alert ve runbook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40D62-FC84-4BB1-AA2C-A28386F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82445245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A842B-8FD4-40B6-B6E6-2F92E573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26CE5"/>
                </a:solidFill>
              </a:defRPr>
            </a:pPr>
            <a:r>
              <a:rPr sz="975" b="1">
                <a:solidFill>
                  <a:srgbClr val="326CE5"/>
                </a:solidFill>
              </a:rPr>
              <a:t>SONUÇ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1A8F5-1DCA-4F0F-9ED8-9005EF0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Özet: YAML yalnız başlangıçtır; asıl konu yaşam döngüsüdür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2AEE8-F166-4152-984C-0F2CB107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FC7C9-9F78-4A6D-A254-375C908B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6CE5"/>
                </a:solidFill>
              </a:defRPr>
            </a:pPr>
            <a:r>
              <a:rPr sz="1350" b="1">
                <a:solidFill>
                  <a:srgbClr val="326CE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B9074-B074-4ACB-810C-0947434F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19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Desired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EFC74-70C9-4E82-84D4-5261D773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Ne istediğinizi tanımlayın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86179-8574-4A33-B161-9791F84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6CE5"/>
                </a:solidFill>
              </a:defRPr>
            </a:pPr>
            <a:r>
              <a:rPr sz="1350" b="1">
                <a:solidFill>
                  <a:srgbClr val="326CE5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F3173-50EC-41C8-9D89-0688B2A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0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D1207-D314-44FB-99A5-C5FF1EF5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Durumu sürekli uzlaştırın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323ED-F211-4210-8054-230652AE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6CE5"/>
                </a:solidFill>
              </a:defRPr>
            </a:pPr>
            <a:r>
              <a:rPr sz="1350" b="1">
                <a:solidFill>
                  <a:srgbClr val="326CE5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118A3-8196-41D1-B34D-1C3B7DD3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81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CA903-80D0-432F-B832-0A5DE16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Dinamik Pod’lara kararlı erişim verin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B4E00-CFCB-4B3F-B1FC-B1D84CA8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6CE5"/>
                </a:solidFill>
              </a:defRPr>
            </a:pPr>
            <a:r>
              <a:rPr sz="1350" b="1">
                <a:solidFill>
                  <a:srgbClr val="326CE5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92F8E-D4D6-4A5D-9697-6A2D9BA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62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5CBAB-4A71-4E04-9E09-9C84489C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624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Kaynak, ağ ve erişimi sınırlandırın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6C57D-83B9-4DA3-AC01-074BABA9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26CE5"/>
                </a:solidFill>
              </a:defRPr>
            </a:pPr>
            <a:r>
              <a:rPr sz="1350" b="1">
                <a:solidFill>
                  <a:srgbClr val="326CE5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63F65-78A5-4AA9-A4A3-7C834F5D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43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465D9-9573-4C28-A191-67771173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434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Gözlemleyin, test edin ve otomatikleştirin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124EB-1B45-41F4-943C-AC2C46E7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904913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8865C-EABA-4DEF-A91B-F84990A7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Bir sonraki adım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7C767-B58D-41CF-A4CA-388904FC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6C7E8"/>
                </a:solidFill>
              </a:defRPr>
            </a:pPr>
            <a:r>
              <a:rPr sz="2250" b="1">
                <a:solidFill>
                  <a:srgbClr val="56C7E8"/>
                </a:solidFill>
              </a:rPr>
              <a:t>Manifestleri bir test cluster’ında uygulayın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C8626-B8E4-4554-8E68-2CB9E79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C7E8"/>
                </a:solidFill>
              </a:defRPr>
            </a:pPr>
            <a:r>
              <a:rPr sz="1200" b="1">
                <a:solidFill>
                  <a:srgbClr val="56C7E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37D3E-5D71-4D09-AFD7-FBDB1897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Namespace oluşturun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F50B2-BB48-4DA1-A93D-4381440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C7E8"/>
                </a:solidFill>
              </a:defRPr>
            </a:pPr>
            <a:r>
              <a:rPr sz="1200" b="1">
                <a:solidFill>
                  <a:srgbClr val="56C7E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D170D-946C-43AD-8233-6EAFDD76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Deployment + Service uygulayın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2DAE0-7335-43A8-B6AD-57B68972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C7E8"/>
                </a:solidFill>
              </a:defRPr>
            </a:pPr>
            <a:r>
              <a:rPr sz="1200" b="1">
                <a:solidFill>
                  <a:srgbClr val="56C7E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5DFF2-8E99-46A8-A086-3DED6515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Probe ve resources ekleyin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D774F-9C06-4033-AF0D-1D6E7C37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C7E8"/>
                </a:solidFill>
              </a:defRPr>
            </a:pPr>
            <a:r>
              <a:rPr sz="1200" b="1">
                <a:solidFill>
                  <a:srgbClr val="56C7E8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DE91B-B5CB-40B9-81B1-369C2204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00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Ingress ve TLS bağlayın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95280-C0FA-4994-87FA-537FA38C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C7E8"/>
                </a:solidFill>
              </a:defRPr>
            </a:pPr>
            <a:r>
              <a:rPr sz="1200" b="1">
                <a:solidFill>
                  <a:srgbClr val="56C7E8"/>
                </a:solidFill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8C408-A156-46F7-AB1D-19CF3862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Hata üretip rollout/rollback deneyin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8038E-511C-4289-8B8A-3588B8E1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A3BA"/>
                </a:solidFill>
              </a:defRPr>
            </a:pPr>
            <a:r>
              <a:rPr sz="900" b="1">
                <a:solidFill>
                  <a:srgbClr val="8BA3BA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499678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2026-08-29T09:04:32.2090000Z</dcterms:created>
  <dcterms:modified xsi:type="dcterms:W3CDTF">2026-08-29T09:04:32.2090000Z</dcterms:modified>
</coreProperties>
</file>