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ebaead5a842cb" /><Relationship Type="http://schemas.openxmlformats.org/officeDocument/2006/relationships/extended-properties" Target="/docProps/app.xml" Id="R040ebbbc4d5f4c29" /><Relationship Type="http://schemas.openxmlformats.org/officeDocument/2006/relationships/officeDocument" Target="/ppt/presentation.xml" Id="R564b1ded0198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d6f23b28924d61"/>
  </p:sldMasterIdLst>
  <p:notesMasterIdLst>
    <p:notesMasterId xmlns:r="http://schemas.openxmlformats.org/officeDocument/2006/relationships" r:id="Re72aed7195b0404c"/>
  </p:notesMasterIdLst>
  <p:sldIdLst>
    <p:sldId xmlns:r="http://schemas.openxmlformats.org/officeDocument/2006/relationships" id="256" r:id="R966e365e180544ae"/>
    <p:sldId xmlns:r="http://schemas.openxmlformats.org/officeDocument/2006/relationships" id="257" r:id="R951c87dc49b94e3f"/>
    <p:sldId xmlns:r="http://schemas.openxmlformats.org/officeDocument/2006/relationships" id="258" r:id="Rb5a53cd11124447b"/>
    <p:sldId xmlns:r="http://schemas.openxmlformats.org/officeDocument/2006/relationships" id="259" r:id="R6f09b497c7e54cdb"/>
    <p:sldId xmlns:r="http://schemas.openxmlformats.org/officeDocument/2006/relationships" id="260" r:id="R4608986958d8416c"/>
    <p:sldId xmlns:r="http://schemas.openxmlformats.org/officeDocument/2006/relationships" id="261" r:id="Rac525a7b50474705"/>
    <p:sldId xmlns:r="http://schemas.openxmlformats.org/officeDocument/2006/relationships" id="262" r:id="R2f0f5d90b4fe4bcc"/>
    <p:sldId xmlns:r="http://schemas.openxmlformats.org/officeDocument/2006/relationships" id="263" r:id="R3826a919a3134988"/>
    <p:sldId xmlns:r="http://schemas.openxmlformats.org/officeDocument/2006/relationships" id="264" r:id="R9deaa11aad78458d"/>
    <p:sldId xmlns:r="http://schemas.openxmlformats.org/officeDocument/2006/relationships" id="265" r:id="R93edfc2eada94063"/>
    <p:sldId xmlns:r="http://schemas.openxmlformats.org/officeDocument/2006/relationships" id="266" r:id="Ra278154a85d547aa"/>
    <p:sldId xmlns:r="http://schemas.openxmlformats.org/officeDocument/2006/relationships" id="267" r:id="R3201420b595040f5"/>
    <p:sldId xmlns:r="http://schemas.openxmlformats.org/officeDocument/2006/relationships" id="268" r:id="Re173323d86674c08"/>
    <p:sldId xmlns:r="http://schemas.openxmlformats.org/officeDocument/2006/relationships" id="269" r:id="R536ef5d2a6b64902"/>
    <p:sldId xmlns:r="http://schemas.openxmlformats.org/officeDocument/2006/relationships" id="270" r:id="R9d4b23488dfa4165"/>
    <p:sldId xmlns:r="http://schemas.openxmlformats.org/officeDocument/2006/relationships" id="271" r:id="R83aa5a5f12e342aa"/>
    <p:sldId xmlns:r="http://schemas.openxmlformats.org/officeDocument/2006/relationships" id="272" r:id="R9792f5e0d3bf4788"/>
    <p:sldId xmlns:r="http://schemas.openxmlformats.org/officeDocument/2006/relationships" id="273" r:id="Rcf4b86066fed4d43"/>
    <p:sldId xmlns:r="http://schemas.openxmlformats.org/officeDocument/2006/relationships" id="274" r:id="R2063b24b52304684"/>
    <p:sldId xmlns:r="http://schemas.openxmlformats.org/officeDocument/2006/relationships" id="275" r:id="Rbe3ce4bbeb554dc3"/>
    <p:sldId xmlns:r="http://schemas.openxmlformats.org/officeDocument/2006/relationships" id="276" r:id="Rfa3ebd6097334eea"/>
    <p:sldId xmlns:r="http://schemas.openxmlformats.org/officeDocument/2006/relationships" id="277" r:id="R436f572d2b174098"/>
    <p:sldId xmlns:r="http://schemas.openxmlformats.org/officeDocument/2006/relationships" id="278" r:id="R74ea6fac3f1642ef"/>
    <p:sldId xmlns:r="http://schemas.openxmlformats.org/officeDocument/2006/relationships" id="279" r:id="R7869efadc4d14626"/>
    <p:sldId xmlns:r="http://schemas.openxmlformats.org/officeDocument/2006/relationships" id="280" r:id="R675662da0d2049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7c2ee9d20a457e" /><Relationship Type="http://schemas.openxmlformats.org/officeDocument/2006/relationships/slideMaster" Target="/ppt/slideMasters/slideMaster1.xml" Id="Re2d6f23b28924d61" /><Relationship Type="http://schemas.openxmlformats.org/officeDocument/2006/relationships/notesMaster" Target="/ppt/notesMasters/notesMaster1.xml" Id="Re72aed7195b0404c" /><Relationship Type="http://schemas.openxmlformats.org/officeDocument/2006/relationships/presProps" Target="/ppt/presProps.xml" Id="R0648ab2e0e804760" /><Relationship Type="http://schemas.openxmlformats.org/officeDocument/2006/relationships/tableStyles" Target="/ppt/tableStyles.xml" Id="Rb77ec65c7c9e43cd" /><Relationship Type="http://schemas.openxmlformats.org/officeDocument/2006/relationships/slide" Target="/ppt/slides/slide1.xml" Id="R966e365e180544ae" /><Relationship Type="http://schemas.openxmlformats.org/officeDocument/2006/relationships/slide" Target="/ppt/slides/slide2.xml" Id="R951c87dc49b94e3f" /><Relationship Type="http://schemas.openxmlformats.org/officeDocument/2006/relationships/slide" Target="/ppt/slides/slide3.xml" Id="Rb5a53cd11124447b" /><Relationship Type="http://schemas.openxmlformats.org/officeDocument/2006/relationships/slide" Target="/ppt/slides/slide4.xml" Id="R6f09b497c7e54cdb" /><Relationship Type="http://schemas.openxmlformats.org/officeDocument/2006/relationships/slide" Target="/ppt/slides/slide5.xml" Id="R4608986958d8416c" /><Relationship Type="http://schemas.openxmlformats.org/officeDocument/2006/relationships/slide" Target="/ppt/slides/slide6.xml" Id="Rac525a7b50474705" /><Relationship Type="http://schemas.openxmlformats.org/officeDocument/2006/relationships/slide" Target="/ppt/slides/slide7.xml" Id="R2f0f5d90b4fe4bcc" /><Relationship Type="http://schemas.openxmlformats.org/officeDocument/2006/relationships/slide" Target="/ppt/slides/slide8.xml" Id="R3826a919a3134988" /><Relationship Type="http://schemas.openxmlformats.org/officeDocument/2006/relationships/slide" Target="/ppt/slides/slide9.xml" Id="R9deaa11aad78458d" /><Relationship Type="http://schemas.openxmlformats.org/officeDocument/2006/relationships/slide" Target="/ppt/slides/slide10.xml" Id="R93edfc2eada94063" /><Relationship Type="http://schemas.openxmlformats.org/officeDocument/2006/relationships/slide" Target="/ppt/slides/slide11.xml" Id="Ra278154a85d547aa" /><Relationship Type="http://schemas.openxmlformats.org/officeDocument/2006/relationships/slide" Target="/ppt/slides/slide12.xml" Id="R3201420b595040f5" /><Relationship Type="http://schemas.openxmlformats.org/officeDocument/2006/relationships/slide" Target="/ppt/slides/slide13.xml" Id="Re173323d86674c08" /><Relationship Type="http://schemas.openxmlformats.org/officeDocument/2006/relationships/slide" Target="/ppt/slides/slide14.xml" Id="R536ef5d2a6b64902" /><Relationship Type="http://schemas.openxmlformats.org/officeDocument/2006/relationships/slide" Target="/ppt/slides/slide15.xml" Id="R9d4b23488dfa4165" /><Relationship Type="http://schemas.openxmlformats.org/officeDocument/2006/relationships/slide" Target="/ppt/slides/slide16.xml" Id="R83aa5a5f12e342aa" /><Relationship Type="http://schemas.openxmlformats.org/officeDocument/2006/relationships/slide" Target="/ppt/slides/slide17.xml" Id="R9792f5e0d3bf4788" /><Relationship Type="http://schemas.openxmlformats.org/officeDocument/2006/relationships/slide" Target="/ppt/slides/slide18.xml" Id="Rcf4b86066fed4d43" /><Relationship Type="http://schemas.openxmlformats.org/officeDocument/2006/relationships/slide" Target="/ppt/slides/slide19.xml" Id="R2063b24b52304684" /><Relationship Type="http://schemas.openxmlformats.org/officeDocument/2006/relationships/slide" Target="/ppt/slides/slide20.xml" Id="Rbe3ce4bbeb554dc3" /><Relationship Type="http://schemas.openxmlformats.org/officeDocument/2006/relationships/slide" Target="/ppt/slides/slide21.xml" Id="Rfa3ebd6097334eea" /><Relationship Type="http://schemas.openxmlformats.org/officeDocument/2006/relationships/slide" Target="/ppt/slides/slide22.xml" Id="R436f572d2b174098" /><Relationship Type="http://schemas.openxmlformats.org/officeDocument/2006/relationships/slide" Target="/ppt/slides/slide23.xml" Id="R74ea6fac3f1642ef" /><Relationship Type="http://schemas.openxmlformats.org/officeDocument/2006/relationships/slide" Target="/ppt/slides/slide24.xml" Id="R7869efadc4d14626" /><Relationship Type="http://schemas.openxmlformats.org/officeDocument/2006/relationships/slide" Target="/ppt/slides/slide25.xml" Id="R675662da0d2049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ba8821d8054a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8a6a2ec28a43df" /><Relationship Type="http://schemas.openxmlformats.org/officeDocument/2006/relationships/notesMaster" Target="/ppt/notesMasters/notesMaster1.xml" Id="R69f9f72047b44e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43d3d633524a56" /><Relationship Type="http://schemas.openxmlformats.org/officeDocument/2006/relationships/notesMaster" Target="/ppt/notesMasters/notesMaster1.xml" Id="R25d2240efe6b4f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fead3f3f1542b6" /><Relationship Type="http://schemas.openxmlformats.org/officeDocument/2006/relationships/notesMaster" Target="/ppt/notesMasters/notesMaster1.xml" Id="Rd846a11d192043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7ed1f75014d21" /><Relationship Type="http://schemas.openxmlformats.org/officeDocument/2006/relationships/notesMaster" Target="/ppt/notesMasters/notesMaster1.xml" Id="Rcfb696947dff4e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4058167fe7467e" /><Relationship Type="http://schemas.openxmlformats.org/officeDocument/2006/relationships/notesMaster" Target="/ppt/notesMasters/notesMaster1.xml" Id="R4401de752b3d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bb95de1d4447d8" /><Relationship Type="http://schemas.openxmlformats.org/officeDocument/2006/relationships/notesMaster" Target="/ppt/notesMasters/notesMaster1.xml" Id="R725d241552464e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5025150e1945b5" /><Relationship Type="http://schemas.openxmlformats.org/officeDocument/2006/relationships/notesMaster" Target="/ppt/notesMasters/notesMaster1.xml" Id="R46323367b17849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bb5528a7524787" /><Relationship Type="http://schemas.openxmlformats.org/officeDocument/2006/relationships/notesMaster" Target="/ppt/notesMasters/notesMaster1.xml" Id="Ra669136cae34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8d873678fa4e25" /><Relationship Type="http://schemas.openxmlformats.org/officeDocument/2006/relationships/notesMaster" Target="/ppt/notesMasters/notesMaster1.xml" Id="R76b8dfadfec14c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79168c332844dd" /><Relationship Type="http://schemas.openxmlformats.org/officeDocument/2006/relationships/notesMaster" Target="/ppt/notesMasters/notesMaster1.xml" Id="R395164a9c9e146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d5897947db462a" /><Relationship Type="http://schemas.openxmlformats.org/officeDocument/2006/relationships/notesMaster" Target="/ppt/notesMasters/notesMaster1.xml" Id="R995bca9f0d06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54ec73718443ae" /><Relationship Type="http://schemas.openxmlformats.org/officeDocument/2006/relationships/notesMaster" Target="/ppt/notesMasters/notesMaster1.xml" Id="R731439b304f64c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1ecd8236bf43c8" /><Relationship Type="http://schemas.openxmlformats.org/officeDocument/2006/relationships/notesMaster" Target="/ppt/notesMasters/notesMaster1.xml" Id="R17e09ee55d4c4d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6d066d5b7e435a" /><Relationship Type="http://schemas.openxmlformats.org/officeDocument/2006/relationships/notesMaster" Target="/ppt/notesMasters/notesMaster1.xml" Id="R340345489f2e42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00937ac8314182" /><Relationship Type="http://schemas.openxmlformats.org/officeDocument/2006/relationships/notesMaster" Target="/ppt/notesMasters/notesMaster1.xml" Id="Rf5a2733b93f349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fdc4f3d629438c" /><Relationship Type="http://schemas.openxmlformats.org/officeDocument/2006/relationships/notesMaster" Target="/ppt/notesMasters/notesMaster1.xml" Id="R121175cb55534a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adfd2667d14056" /><Relationship Type="http://schemas.openxmlformats.org/officeDocument/2006/relationships/notesMaster" Target="/ppt/notesMasters/notesMaster1.xml" Id="Rb044f03f747c45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a28285f09446e4" /><Relationship Type="http://schemas.openxmlformats.org/officeDocument/2006/relationships/notesMaster" Target="/ppt/notesMasters/notesMaster1.xml" Id="R0a0418d00fb848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56b91b36264a9d" /><Relationship Type="http://schemas.openxmlformats.org/officeDocument/2006/relationships/notesMaster" Target="/ppt/notesMasters/notesMaster1.xml" Id="R3f859e95fbec44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36912121e0459a" /><Relationship Type="http://schemas.openxmlformats.org/officeDocument/2006/relationships/notesMaster" Target="/ppt/notesMasters/notesMaster1.xml" Id="Rf8fef13f07724d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ffd934002f4168" /><Relationship Type="http://schemas.openxmlformats.org/officeDocument/2006/relationships/notesMaster" Target="/ppt/notesMasters/notesMaster1.xml" Id="R48e0acf7a69045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de8f82fbf44f61" /><Relationship Type="http://schemas.openxmlformats.org/officeDocument/2006/relationships/notesMaster" Target="/ppt/notesMasters/notesMaster1.xml" Id="Rc3c98b2055fc4b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9b41b3e87b42ea" /><Relationship Type="http://schemas.openxmlformats.org/officeDocument/2006/relationships/notesMaster" Target="/ppt/notesMasters/notesMaster1.xml" Id="Rbf973d2d296d4f2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a9e6f368a54f0d" /><Relationship Type="http://schemas.openxmlformats.org/officeDocument/2006/relationships/notesMaster" Target="/ppt/notesMasters/notesMaster1.xml" Id="R2874057839e8478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c7ff47dbf04984" /><Relationship Type="http://schemas.openxmlformats.org/officeDocument/2006/relationships/notesMaster" Target="/ppt/notesMasters/notesMaster1.xml" Id="R9968c55f85e1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üç kavramı birbirinden ayırır ve tek bir yazılım teslimat akışında nasıl birleştiğini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DevOps kültür ve çalışma modeli; cloud-native mimari yaklaşım; GitOps ise deklaratif operasyon yöntemidir.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Sorun, yalnız araç eksikliği değil; teslimatın parçalı, manuel ve geri bildirimsiz olmasıdır.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DevOps tanımı; kültür, otomasyon, ölçüm ve paylaşım birlikte düşünülmelidir.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CI, Continuous Delivery ve Continuous Deployment ayrımı.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aşamaları ve immutable artifact yaklaşımı.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Infrastructure as Code ve declarative yaklaşım.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https://developer.hashicorp.com/terraform/intro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Container, image ve registry terimleri.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Cloud-native tanımı.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https://github.com/cncf/toc/blob/main/DEFINITION.md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Cloud-native ortak özellikleri.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Mikroservisler küçük olmaktan çok iş yeteneği sınırı, bağımsız dağıtım ve veri sahipliğiyle tanımlanır.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https://learn.microsoft.com/en-us/azure/architecture/guide/architecture-styles/microservices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Gateway istemciler için tek giriş noktasıdır. Database-per-service gevşek bağlılığı artırır; event-driven iletişim servislerin asenkron olay paylaşmasını sağlar. Mikroservis mimarisi bağımsız ölçek ve dağıtım sağlarken ağ, gözlemlenebilirlik ve dağıtık veri tutarlılığı sorumluluğu getirir.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https://learn.microsoft.com/en-us/azure/architecture/guide/architecture-styles/microservices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Kubernetes temel nesneleri.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Observability terimleri.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SLI, SLO, SLA ve error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https://sre.google/sre-book/table-of-contents/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Platform engineering ve golden path terimleri.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DevSecOps ve yazılım tedarik zinciri terimleri.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GitOps temel prensipleri.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https://opengitops.dev/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Push deployment ve pull-based GitOps farkı.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GitOps bileşenleri ve sorumluluk ayrımı.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Argo CD kavramları.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https://argo-cd.readthedocs.io/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Uçtan uca örnek teslimat akışı.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Kapanış ve uygulama önerisi.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https://cloud.google.com/architecture/devops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e26d0126747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bc05c32fa24ed9" /><Relationship Type="http://schemas.openxmlformats.org/officeDocument/2006/relationships/slideLayout" Target="/ppt/slideLayouts/slideLayout1.xml" Id="Re18f239a0b4e42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8f239a0b4e42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085991a594a4b" /><Relationship Type="http://schemas.openxmlformats.org/officeDocument/2006/relationships/image" Target="/ppt/media/image.png" Id="R32fb21bdc4324687" /><Relationship Type="http://schemas.openxmlformats.org/officeDocument/2006/relationships/notesSlide" Target="/ppt/notesSlides/notesSlide1.xml" Id="Rcd89c486fa9940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f136e1d66461b" /><Relationship Type="http://schemas.openxmlformats.org/officeDocument/2006/relationships/notesSlide" Target="/ppt/notesSlides/notesSlide2.xml" Id="Ra92ed9582d744e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61f78ae9849e4" /><Relationship Type="http://schemas.openxmlformats.org/officeDocument/2006/relationships/notesSlide" Target="/ppt/notesSlides/notesSlide3.xml" Id="R338c96ffcef949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04e90407a4d10" /><Relationship Type="http://schemas.openxmlformats.org/officeDocument/2006/relationships/notesSlide" Target="/ppt/notesSlides/notesSlide4.xml" Id="R56907ec8e8e845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4840f3df44c4d" /><Relationship Type="http://schemas.openxmlformats.org/officeDocument/2006/relationships/notesSlide" Target="/ppt/notesSlides/notesSlide5.xml" Id="Rf0aaaaade3554e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82aafb1eb4950" /><Relationship Type="http://schemas.openxmlformats.org/officeDocument/2006/relationships/notesSlide" Target="/ppt/notesSlides/notesSlide6.xml" Id="Rbeeeb14a7f1b47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27758a48b466a" /><Relationship Type="http://schemas.openxmlformats.org/officeDocument/2006/relationships/notesSlide" Target="/ppt/notesSlides/notesSlide7.xml" Id="Rc2644dab12d64c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3aa1b6c0041a0" /><Relationship Type="http://schemas.openxmlformats.org/officeDocument/2006/relationships/notesSlide" Target="/ppt/notesSlides/notesSlide8.xml" Id="Rb883fb5c4c6545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3964fd8b04e01" /><Relationship Type="http://schemas.openxmlformats.org/officeDocument/2006/relationships/notesSlide" Target="/ppt/notesSlides/notesSlide9.xml" Id="R9565a189f8ae40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faa9ebead4cd4" /><Relationship Type="http://schemas.openxmlformats.org/officeDocument/2006/relationships/image" Target="/ppt/media/image2.png" Id="R8ed414dfd1e54de4" /><Relationship Type="http://schemas.openxmlformats.org/officeDocument/2006/relationships/notesSlide" Target="/ppt/notesSlides/notesSlide10.xml" Id="R25ae2c35cc2748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a678c81254078" /><Relationship Type="http://schemas.openxmlformats.org/officeDocument/2006/relationships/notesSlide" Target="/ppt/notesSlides/notesSlide11.xml" Id="R80933fdaad3048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c3581301d439d" /><Relationship Type="http://schemas.openxmlformats.org/officeDocument/2006/relationships/notesSlide" Target="/ppt/notesSlides/notesSlide12.xml" Id="Ra94d4752fe2d48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9fd3746fe42d6" /><Relationship Type="http://schemas.openxmlformats.org/officeDocument/2006/relationships/notesSlide" Target="/ppt/notesSlides/notesSlide13.xml" Id="Rfa8e51ee7ded4f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18d3782e94705" /><Relationship Type="http://schemas.openxmlformats.org/officeDocument/2006/relationships/notesSlide" Target="/ppt/notesSlides/notesSlide14.xml" Id="Rb28d1e516eac4b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a93eb15584914" /><Relationship Type="http://schemas.openxmlformats.org/officeDocument/2006/relationships/notesSlide" Target="/ppt/notesSlides/notesSlide15.xml" Id="R590d5e85abee4c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4310536384f66" /><Relationship Type="http://schemas.openxmlformats.org/officeDocument/2006/relationships/notesSlide" Target="/ppt/notesSlides/notesSlide16.xml" Id="Rc333afb28c0849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2d39b13e84067" /><Relationship Type="http://schemas.openxmlformats.org/officeDocument/2006/relationships/image" Target="/ppt/media/image3.png" Id="R46abea0943b84170" /><Relationship Type="http://schemas.openxmlformats.org/officeDocument/2006/relationships/notesSlide" Target="/ppt/notesSlides/notesSlide17.xml" Id="R6e1507808e2e49a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b611af43d497a" /><Relationship Type="http://schemas.openxmlformats.org/officeDocument/2006/relationships/notesSlide" Target="/ppt/notesSlides/notesSlide18.xml" Id="Ra0f9e8f75c8043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52406ed5c41eb" /><Relationship Type="http://schemas.openxmlformats.org/officeDocument/2006/relationships/notesSlide" Target="/ppt/notesSlides/notesSlide19.xml" Id="R7ed42c3b2d854b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95b44c1ba492a" /><Relationship Type="http://schemas.openxmlformats.org/officeDocument/2006/relationships/notesSlide" Target="/ppt/notesSlides/notesSlide20.xml" Id="R1a582744428148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4aa34e09941aa" /><Relationship Type="http://schemas.openxmlformats.org/officeDocument/2006/relationships/notesSlide" Target="/ppt/notesSlides/notesSlide21.xml" Id="Rcd909ae0f91d47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0dc8ebafe4d34" /><Relationship Type="http://schemas.openxmlformats.org/officeDocument/2006/relationships/notesSlide" Target="/ppt/notesSlides/notesSlide22.xml" Id="Re902fc99af2745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26d4bc19c415a" /><Relationship Type="http://schemas.openxmlformats.org/officeDocument/2006/relationships/notesSlide" Target="/ppt/notesSlides/notesSlide23.xml" Id="R0fb17a27856b4c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2bf5d6a274635" /><Relationship Type="http://schemas.openxmlformats.org/officeDocument/2006/relationships/notesSlide" Target="/ppt/notesSlides/notesSlide24.xml" Id="R9d04d9ff991b412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68edcfcae4302" /><Relationship Type="http://schemas.openxmlformats.org/officeDocument/2006/relationships/notesSlide" Target="/ppt/notesSlides/notesSlide25.xml" Id="R037c351df3b64b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00470-3C0B-41EF-84A6-9985DE82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46286-5DB6-48D4-B06F-39E0CF1D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1220"/>
                </a:solidFill>
              </a:defRPr>
            </a:pPr>
            <a:r>
              <a:rPr sz="3900" b="1">
                <a:solidFill>
                  <a:srgbClr val="0B1220"/>
                </a:solidFill>
              </a:rPr>
              <a:t>DevOps, Cloud-Native</a:t>
            </a:r>
          </a:p>
          <a:p xmlns:a="http://schemas.openxmlformats.org/drawingml/2006/main">
            <a:pPr algn="l">
              <a:defRPr sz="3900" b="1">
                <a:solidFill>
                  <a:srgbClr val="0B1220"/>
                </a:solidFill>
              </a:defRPr>
            </a:pPr>
            <a:r>
              <a:rPr sz="3900" b="1">
                <a:solidFill>
                  <a:srgbClr val="0B1220"/>
                </a:solidFill>
              </a:rPr>
              <a:t>ve GitOps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6861E-1977-49D3-B474-897FAB93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06D"/>
                </a:solidFill>
              </a:defRPr>
            </a:pPr>
            <a:r>
              <a:rPr sz="2025" b="0">
                <a:solidFill>
                  <a:srgbClr val="52606D"/>
                </a:solidFill>
              </a:rPr>
              <a:t>Kavramlardan çalışan teslimat modeline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EEBB1-1AD1-42D3-AD14-71EA55EA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5334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51977-65A8-4013-B69D-712E360E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Kod → CI/CD → Platform → GitOps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01352-FCBA-446F-B521-F679DE8E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Teknik eğitim • 24 slayt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0E128-872C-4027-87D7-B0E928B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b21bdc4324687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714375"/>
            <a:ext cx="485775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</p:spTree>
    <p:extLst>
      <p:ext uri="{BB962C8B-B14F-4D97-AF65-F5344CB8AC3E}">
        <p14:creationId xmlns:p14="http://schemas.microsoft.com/office/powerpoint/2010/main" val="259637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ACB2A-44AA-4D15-BB4E-790F0130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ÖNCE TANIM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7C7FC-3312-43F6-B79B-0043066E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Üç kavram, yazılım teslimatının farklı parçalarını çözer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1BB43-9EC9-45DC-9BB0-330FF7D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DB207-0B1A-473C-9A02-9DC422B0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E41F1-9004-4C54-8A67-A2D4C736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DevOps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AE465-3656-458B-9B67-2E5280B7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İnsanlar, süreçler ve geri bildirim kültürü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D3CB8-BA4F-47C5-BFAF-EA9EFC0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D6A3A-9D7E-41DF-889C-B0584FDC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Cloud-native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E1C07-9053-409F-8982-ECE62AE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Uygulamanın modern platformlarda çalışma biçimi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2402C-13D7-450A-B36A-E98070EB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B9ABC-1EE4-46C2-83C4-42F2AD4A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GitOps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476F5-3F61-4B3A-BD74-7EE80873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Çalışan sistemin Git üzerinden yönetilmesi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11E9-F6DB-4415-9BDC-2B12FC3B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00928-BABE-487F-AAF4-C13EB9D5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Ortak 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CF1AD-B819-4097-B618-A9F74691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Hızlı, güvenilir ve tekrarlanabilir teslimat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137F4-9C5F-45F1-8EA9-D05DC79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4290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8F0C3-9403-4DAE-A51B-CEED7B4C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BAŞLANGIÇ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05652-5218-4098-BCC1-766E24B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 yaklaşımlar hangi sorunları çözmek için ortaya çıktı?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798AA-BC26-47C5-92CE-1892E55A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A08C9-0E57-4C00-B825-2C6C601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04F5B-527A-4C8D-AC6E-AC0BBEEB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09725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Manuel kurulumlar ortamlar arasında farklılık üretir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83B60-36AD-4C89-AB33-F871B19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C1210-A5F3-46CC-BFF6-D25AF13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Büyük ve seyrek sürümler hata etkisini büyütür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FEDDD-4EBF-4733-A93A-6B4B95C0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B8D6A-49AD-41A0-97C3-8104670F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57525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Geliştirme ve operasyon arasındaki devir teslimi gecikme yaratır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55B2F-4C2A-40CB-B5CE-0F58715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7A005-9C98-4EFD-A3B7-B2147021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1425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Üretimdeki değişikliklerin kim tarafından yapıldığı izlenemez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3FFD6-F743-4A2E-A59A-C6B00134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4A825-94DF-4221-9BB0-2952D841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05325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Arıza sonrası geri dönüş yavaş ve belirsiz olabilir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FCEAA-9F9C-4D9E-8CBD-1FB24C3B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6999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34FFD-5682-43C1-9283-C231E372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DEVOPS NEDİR?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80104-09DD-4825-8741-87AA2AD5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DevOps, ortak sahiplik ve hızlı geri bildirim modelidir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45206-9D8A-4634-A515-A245356B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DC54E-3429-4184-A3F2-35E525D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775E6"/>
                </a:solidFill>
              </a:defRPr>
            </a:pPr>
            <a:r>
              <a:rPr sz="2175" b="1">
                <a:solidFill>
                  <a:srgbClr val="2775E6"/>
                </a:solidFill>
              </a:rPr>
              <a:t>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AEBCB-7B12-471E-86D4-6D18398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2606D"/>
                </a:solidFill>
              </a:defRPr>
            </a:pPr>
            <a:r>
              <a:rPr sz="2700" b="1">
                <a:solidFill>
                  <a:srgbClr val="52606D"/>
                </a:solidFill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F6B90-F1EA-49B3-8406-C58B12E1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D02F8-B289-456D-AD61-4867B865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2606D"/>
                </a:solidFill>
              </a:defRPr>
            </a:pPr>
            <a:r>
              <a:rPr sz="2700" b="1">
                <a:solidFill>
                  <a:srgbClr val="52606D"/>
                </a:solidFill>
              </a:rPr>
              <a:t>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9406F-BED9-437F-AFBF-34D2771A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2A06B"/>
                </a:solidFill>
              </a:defRPr>
            </a:pPr>
            <a:r>
              <a:rPr sz="2175" b="1">
                <a:solidFill>
                  <a:srgbClr val="22A06B"/>
                </a:solidFill>
              </a:rPr>
              <a:t>Değer akışı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DF3DA-BC0D-4B0B-AB5D-20843A80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90875"/>
            <a:ext cx="962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6792F-F7F8-4BB2-961C-480E7D58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24250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DevOps bir araç adı değildir. Yazılımı geliştiren ve işleten ekiplerin aynı hedef, otomasyon ve üretim geri bildirimi etrafında çalışmasıdır.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0E21B-E732-4061-8E19-10A79C4A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Hedef: değişikliği daha sık yaparken güvenilirliği korumak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6917D-9A18-4E2F-A3FF-FE407FDC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590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AF465-24DA-4D19-A42E-E8286BF7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CI/CD TERİMLERİ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70772-E26C-45DF-B24F-1955BD32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CI ve CD terimleri aynı anlama gelmez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FE6BD-6DC4-479D-9EC8-E69D0DFE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996FC-2F05-418C-BFA4-7DD8EE9C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0FDA-F5A7-4CFA-BDF5-D80FB63A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CI — Continuous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F3568-A48A-4A7C-8F5B-0B677598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Kod sık birleştirilir; build ve test otomatik çalışır.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1F000-6467-44F0-8D99-4AEF11F7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8DD0F-0BC2-42A7-BCFB-C2958D03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Continuous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DE085-CB5E-4801-B30B-3A2E1ABA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Her başarılı değişiklik üretime çıkabilecek durumda tutulur.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2779B-B6DA-43B3-BF8C-8A36495A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0E4FB-4582-4E53-8699-FA12FAB7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Continuous Deployment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DB00C-4DED-4306-98F1-D0B92E7C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Kontrolleri geçen değişiklik otomatik olarak üretime çıkar.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CCDD4-C349-498E-BFB1-BEE57117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DC4FE-3536-4F79-AEAE-6A630B6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EB461-DA3A-463B-9AED-A5ADD3A4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Build, test, güvenlik ve dağıtım adımlarının otomatik akışıdır.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F4FE4-7104-4693-93AE-5BD28D08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7920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C7C17-056C-4853-A128-2935BE90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CI/CD AKIŞI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62F57-9F75-4D00-8569-7A67019A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Pipeline, kodu kontrollü biçimde çalışan servise dönüştürür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33788-8F15-478D-8D27-2E6642F5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5880A-8D9E-4585-A291-3D9F89E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811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E03E7-4E5D-48B7-A8CB-8FE67F52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765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DCB86-8889-4813-9034-D3FA7D2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81B28-D6BB-4449-81F6-BFC97406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</a:defRPr>
            </a:pPr>
            <a:r>
              <a:rPr sz="195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08124-9526-4A26-939D-41232CA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33625"/>
            <a:ext cx="15811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E14BA-D158-4B74-9959-F6ACC14E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4765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75E6"/>
                </a:solidFill>
              </a:defRPr>
            </a:pPr>
            <a:r>
              <a:rPr sz="1125" b="1">
                <a:solidFill>
                  <a:srgbClr val="2775E6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B2530-84CB-44C9-B1CB-668FCEC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956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4C977-AA8A-4DF3-9369-6A9C31DD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</a:defRPr>
            </a:pPr>
            <a:r>
              <a:rPr sz="195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AD52B-BEAB-4F23-B022-0BEF6769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33625"/>
            <a:ext cx="15811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20F91-C9CD-4745-ACA9-7E8CF3B6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75E6"/>
                </a:solidFill>
              </a:defRPr>
            </a:pPr>
            <a:r>
              <a:rPr sz="1125" b="1">
                <a:solidFill>
                  <a:srgbClr val="2775E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4AAEC-C1F0-4E07-939D-C374E44D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5D14F-BE6B-4D00-A0D8-CEECFAC0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</a:defRPr>
            </a:pPr>
            <a:r>
              <a:rPr sz="195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A9F35-08A9-41F1-8171-18C330BE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33625"/>
            <a:ext cx="15811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946BC-6E22-4638-A5CE-CAD19C8C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75E6"/>
                </a:solidFill>
              </a:defRPr>
            </a:pPr>
            <a:r>
              <a:rPr sz="1125" b="1">
                <a:solidFill>
                  <a:srgbClr val="2775E6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A7279-58ED-4850-B82F-A10A7B8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Scan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4DE74-5093-4401-89EC-9EF4DDA8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</a:defRPr>
            </a:pPr>
            <a:r>
              <a:rPr sz="195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91FE2-24E0-4141-83CE-21FAFF3A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33625"/>
            <a:ext cx="15811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80A84-9D37-4D24-86FA-D7BAA0E0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765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75E6"/>
                </a:solidFill>
              </a:defRPr>
            </a:pPr>
            <a:r>
              <a:rPr sz="1125" b="1">
                <a:solidFill>
                  <a:srgbClr val="2775E6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786A4-6427-4D31-AF38-53890E4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7E885-2D95-4404-9626-BD27A28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</a:defRPr>
            </a:pPr>
            <a:r>
              <a:rPr sz="195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954B7-0BDC-424E-A0F6-5B1C4719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33625"/>
            <a:ext cx="15811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075E0-AE1F-486F-A516-45229110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765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3195F4-26EB-4C05-B363-9287CC83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956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4AD5B-B10C-4ABA-A116-41A7424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Aynı artifact testten üretime taşınır; üretim için yeniden build edilmez.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131DE9-3208-46CE-A3E0-9B6F877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Artifact: build sonucunda oluşan image, paket veya binary dosyasıdır.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D81F7-DD61-4B1C-BDC0-829A1DC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7292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F6C2D-D61B-4DA3-BB8E-94317834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CI/CD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4607A-E16A-4AD4-A35C-F67CCFC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GitLab CI: basit build–test–deploy örneği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81A86-2F37-4325-B7D0-B4CAAC53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0B6E7-6708-4309-B9AB-D237A2F0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4BF44-1185-4617-8D51-0292C6ED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stages: [build, test, deploy]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build: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stage: build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script: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- docker build -t app:$CI_COMMIT_SHA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test: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stage: test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script: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- npm ci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- npm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deploy: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stage: deploy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script: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- ./deploy.sh $CI_COMMIT_SHA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only: [main]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00B78-9E23-428C-86A1-9EA44B52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DBD01-27BB-485C-BAFE-343717E4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stage: işlem sırası</a:t>
            </a:r>
          </a:p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script: çalışacak komutlar</a:t>
            </a:r>
          </a:p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$CI_COMMIT_SHA: sürüm kimliği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Aynı sürüm kimliği dağıtıma kadar korunur.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D71F1-68FA-497A-9FB2-8C6C012C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4296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D4BB1-1205-4BA0-84B7-DBC97065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IaC TERİMLERİ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C8359-94DD-46AF-A499-8E576CD7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Infrastructure as Code, altyapıyı kodla tanımlar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B2628-06B8-4AAF-B530-B8D04D7D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0F5CD-8A18-479B-8C92-92747A5B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02A1C-651C-4C78-9B90-7EBE8CCB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IaC nedir?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C304D-F5B7-4ACE-9619-6AC0616F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Ağ, sunucu ve depolama gibi kaynakların dosyalarla tanımlanmasıdır.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8A3C3-F6A0-486E-9E27-CF03745F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F71E-41C0-4FE4-99ED-ED19BBD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Declarative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6F744-65E8-43EF-8EDC-DB5EB1A0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Nasıl yapılacağını değil, ulaşılacak durumu tarif eder.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97953-8283-47C1-B561-BBECBB1C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3760A-AFAB-46CB-98EC-B9FC0193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Plan / Apply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96B21-37BE-4C3C-B394-F8A08CE4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Önce değişiklik görülür, sonra kontrollü uygulanır.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A7E58-8EB1-47E6-B777-74A4912D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0C017-9B34-4C7F-9F42-A1DE6A3B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Drift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52063-6134-456D-B911-3EC9068C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Gerçek ortam ile kodda tanımlanan durum arasındaki farktır.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1EF83-D313-473C-9023-37C44D75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3233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767A5-605A-46F4-9B23-93B5447C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CONTAINER NEDİR?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4F656-4202-4906-8ECA-900189A8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Container, uygulamayı taşınabilir bir çalışma birimine paketler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ABD93-0839-4EDE-BEBB-5C255036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42F77-3FE3-4E3F-8A14-6740CF86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4476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D9DA4-106E-471C-9572-AF8AF367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5C9E8"/>
                </a:solidFill>
              </a:defRPr>
            </a:pPr>
            <a:r>
              <a:rPr sz="2025" b="1">
                <a:solidFill>
                  <a:srgbClr val="55C9E8"/>
                </a:solidFill>
              </a:rPr>
              <a:t>Container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B1A21-2895-49FF-921B-94902DE4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2809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Uygulama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Runtime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Bağımlılıklar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BF776-4C8B-4A68-B531-3B6F1B0C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Container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7578E-1167-4A04-9E9D-2179A3E2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Çalıştırılabilir, değişmez paket şablonudur.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B1B5C-D0C5-4AFF-BBCF-7F3CBB0F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Container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B21C3-9ECB-4BC6-B9A7-B4B869B7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Image’ın çalışan örneğidir; kısa ömürlü olabilir.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1C722-7B89-4EF5-BF0A-BD8E419A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9D44D-57F2-4799-8CF4-97970401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Image’ların saklandığı ve dağıtıldığı depodur.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90B0D-5CB2-4981-BD14-DC709F1F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5017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3CEB2-D9A5-43E6-A265-3F0FD94E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CLOUD-NATIVE NEDİR?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38E23-8A90-4B61-A8BC-02E3EFDC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Cloud-native, bulut özelliklerinden yararlanır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9FFFA-0062-4071-A42E-75A2F4AA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F5D44-0269-4DFB-9055-4F6A4F89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29F77-11C5-49B6-934D-80CD9935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097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API ve otomasyonla yönetilebilir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456C0-54E4-4253-BCCF-BCCA43D7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E142C-26E8-46D1-82AF-E81B1CDD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Yatay ölçeklenebilir ve gerektiğinde küçülebilir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3B8D4-26F2-4ED5-8A61-E45821EB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190B2-2357-4638-8C9D-F2D429BB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575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Arıza beklenir; sistem kendini toparlayacak şekilde tasarlanır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0B9F8-5EAA-4AC5-AE3D-3B23730D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EFA4D-6466-4DBA-A98B-BAE8D74B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14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Uygulama ölçülebilir: metric, log ve trace üretir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DF523-6AA8-46BF-BA23-8C2240E9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1AB5F-6B02-47B9-81F2-40F71142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053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Değişiklik küçük, sık ve geri alınabilir biçimde yayınlanır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EA0C8-493B-4289-9C36-500F4DEA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10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414dfd1e54de4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76212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786036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EF9F3-5DE4-4391-BA83-F045ADBF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CLOUD-NATIVE ÖZELLİKLER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41358-F057-4266-AB17-3365CC0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Cloud-native uygulamalar beş ortak özellik taşır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5D9C4-6541-4F4C-8AB9-A874EEBB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38A90-7A54-4B86-9CB6-6C9A4381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3C442-B38B-4CF9-8C20-F644DDEE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Containerized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6CED4-BBB0-4139-8F9F-6A797E9B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Taşınabilir ve değişmez artifact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4FD26-58C6-40D7-82B9-D07A82D6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6CBE6-DE60-405B-BE7F-05481FB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Orchestrated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428DB-6917-409A-9BF1-D7F9075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Yerleşim, ölçek ve recovery otomatik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7C4E3-369F-41A7-9490-5A884B22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BC703-8B77-4E36-BBC7-41ACD8E0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Observable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71E6E-7B84-4F53-A60B-89F2684B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Metric, log ve trace üretir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A8871-2A26-463B-AD15-3BC1107A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52E5C-48E1-4E80-AC4E-4D1CF28D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Resilient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7BFAD-5AE0-4C87-B3BF-4B9FCD2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Hata etkisini sınırlar ve toparlanır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91E89-116C-4AEA-8C23-C9DA549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ABC03-126D-402A-BC2E-5CE6859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Automated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96E5E-C672-4CC0-9E3F-67725381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Pipeline ve policy ile yönetilir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B7656-C5C8-4839-A57D-2706FFB1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E6834-37E7-421C-A8F7-6B1D91D4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API-driven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42AF8-CE39-47FA-BAA5-93872322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Sistemler standart arayüzlerle konuşur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D1060-A36F-4011-8D9E-92F7D75C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96057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EC697-0782-43AB-A4CD-11B332EF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MİKROSERVİS NEDİR?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C4D35-759C-4E2C-B832-C0AFED58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Mikroservis, uygulamayı iş yeteneklerine göre böler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D07D9-D164-493B-8440-310F640B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6E0E4-B091-4DC2-9CF7-54ADFE16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BA55E-A82D-4826-AF4A-46557CD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Mikroservis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5C507-8738-402B-BF5D-B962DF90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Belirli bir iş yeteneğini uçtan uca gerçekleştiren küçük ve bağımsız servistir.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893A8-5D0E-431C-9F0A-325D0057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B6736-C5B6-4CAC-B43B-D4E0F16C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Bounded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6510B-DC7D-4D4C-B09A-95ABA3B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Servisin sorumlu olduğu iş kavramları ve veri sınırıdır.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79E28-46CA-4244-A452-3F0EE76F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B6D93-B390-4BB1-99B3-97AC201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Bağımsız dağıtım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66FAB-2DF1-481A-9039-4A7BC63C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Bir servis diğerlerini yeniden yayınlamadan güncellenebilir.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751C1-E405-4204-85DF-AE64546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EE199-7DAC-4B82-B1C0-D02B103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Database per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77755-A42E-4962-A7EC-D9639454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Her servis kendi verisinin sahibidir; başka servis tabloya doğrudan erişmez.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3BA76-F32C-49C5-92B7-C482E84A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18079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2C014-C4C0-4570-A447-25B9A8C6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MİKROSERVİS MİMARİSİ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2248A-DBF8-4EE8-9BF1-D6127D79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Mikroservisler dağıtık bir sistem oluşturur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29981-2666-4C3B-9F0B-D1CB38A2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5C98F-56A5-4ACA-8A18-39ABCBEC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050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A5C31-7107-4106-9B85-2D6D462D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050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0C76A-2B68-48D5-A9AD-5FE64F52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050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85094-F6B5-4CDC-99B0-58EA8BB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4AA01-1CBE-43FA-9237-C91A3424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D70EC-7DDB-4A82-B174-5E82F246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İstemci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6A7F4-F8FE-4704-9122-1CE4EF17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15716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29CF8-DC97-4138-93C8-34D7C15E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43150"/>
            <a:ext cx="100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82349-9E02-49B6-93E4-8F23286D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16668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AD961-B9F8-4D82-B30A-11E173A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Sipariş servisi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DD36E-53FC-443F-BBB8-DDD8554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86125"/>
            <a:ext cx="114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D264B-B608-43B1-A817-0BE02DC3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48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DB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6E120-E04C-43D8-B2A0-6BF00A12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16668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FAB7D-19F2-43DE-AB82-506B73BE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Stok servisi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A70B4-1961-4F03-9B45-17E3335F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86125"/>
            <a:ext cx="114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7E18F-FD17-4335-93A2-47859673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48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DB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B60A3-25AC-4071-990E-0A89298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16668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A929F-F71E-482B-B9C4-1B58E5DD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Ödeme servisi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9D436-D831-4B6D-985E-B301681B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86125"/>
            <a:ext cx="114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5A68B-7FD9-4B97-AFC6-CB2545C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DB 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9EAD9-1F62-49F2-9ADD-BC86BF88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29125"/>
            <a:ext cx="59531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B6296-B52A-4C1D-B179-E54B991B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3867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A06B"/>
                </a:solidFill>
              </a:defRPr>
            </a:pPr>
            <a:r>
              <a:rPr sz="1500" b="1">
                <a:solidFill>
                  <a:srgbClr val="22A06B"/>
                </a:solidFill>
              </a:rPr>
              <a:t>Event bus / message broker: servisler olayları asenkron paylaşır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6B221-7650-4928-B8E2-45357A73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Kazanç: bağımsız ölçek ve dağıtım  •  Bedel: ağ hataları, veri tutarlılığı ve gözlemleme karmaşıklığı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32C16-FDB7-47A4-A0D4-734D3496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01400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7F652-813A-409A-B669-FA6201D6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KUBERNETES’İN YERİ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918E8-8E8F-4C1C-A4A8-6E3649A8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Kubernetes, container orkestrasyon platformudur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D3C04-555E-4F8D-9C6E-1B94384F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D7D59-468E-4546-B72E-9DB6DC24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5E6"/>
                </a:solidFill>
              </a:defRPr>
            </a:pPr>
            <a:r>
              <a:rPr sz="1275" b="1">
                <a:solidFill>
                  <a:srgbClr val="2775E6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9CBFA-AE57-46AF-BD54-108B8B9E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F4518-98C8-424B-A5E3-45FC851B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19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Birlikte çalışan container birimi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E5E0B-D37B-4684-9D9E-3E88008A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5E6"/>
                </a:solidFill>
              </a:defRPr>
            </a:pPr>
            <a:r>
              <a:rPr sz="1275" b="1">
                <a:solidFill>
                  <a:srgbClr val="2775E6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EBF33-1D44-4155-8888-041A9D1B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Deployment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EE982-1985-438B-99B7-7B0350CD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19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İstenen replica ve sürüm durumu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3A2BD-2634-4C22-8D4E-1D7059B8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5E6"/>
                </a:solidFill>
              </a:defRPr>
            </a:pPr>
            <a:r>
              <a:rPr sz="1275" b="1">
                <a:solidFill>
                  <a:srgbClr val="2775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BEEF4-F813-4995-851C-ADC728F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AFA21-979F-42FF-89ED-9855FEBD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194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Pod’lara kararlı ağ erişimi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9ACA2-0EC9-4769-950C-29BBB572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5E6"/>
                </a:solidFill>
              </a:defRPr>
            </a:pPr>
            <a:r>
              <a:rPr sz="1275" b="1">
                <a:solidFill>
                  <a:srgbClr val="2775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FFF93-CCCA-457A-B4DA-EEFBB1C1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ConfigMap / Secret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AB3AE-5603-46B8-9AEE-0F6EE679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195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Yapılandırma ve hassas veri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32E1C-C4A4-4023-BF6D-D62E7ACD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5E6"/>
                </a:solidFill>
              </a:defRPr>
            </a:pPr>
            <a:r>
              <a:rPr sz="1275" b="1">
                <a:solidFill>
                  <a:srgbClr val="2775E6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5820E-EBEC-4914-82DB-37F3D257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Ingress /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E5562-768B-4440-8B36-9B5408D2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8196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Dış trafik yönlendirmesi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9897C-94C5-40DA-8964-1747D512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42059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92C87-F10D-4C25-ABCB-8B07CB6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GÖZLEMLENEBİLİRLİK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5136A-8821-46B5-B8EC-5DD518B6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Observability, sistemin iç durumunu çıktılarından anlamaktır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59B70-1ADD-4661-8174-11EAD40D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AC2F6-3C5E-45F8-AC48-A5F70695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5C947-A247-4012-9A6B-52FA6F70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Metrics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978C6-DC74-4137-BFF3-B4C2585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Sayısal zaman serileri: gecikme, hata, 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F44A3-5049-447C-80FE-39E7AFC6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97A0D-6C22-414B-8DBB-9F789BA4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5634E-ECCA-47D6-B27C-8F199030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Bir olayın ayrıntılı metin kaydı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C77E1-0C28-4F50-9439-89D82A6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E3AD9-1EEC-40C0-89BC-671D4958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Traces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BEA5B-B3EF-41C7-BFE9-06F93FE5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Dağıtık isteğin servisler arasındaki yolu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4C521-7BA2-4B80-997A-17388D7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713DE-E7A6-4FAA-8474-F66888E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Telemetry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2402F-EA90-47C6-9BC1-3A3F410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Metric, log ve trace verilerinin tamamı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65564-BD14-4A9B-A6D4-78C1E71B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3EC4E-1124-4C6C-89F8-3D109943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Alert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813F6-F9BA-4292-B1B4-AF3CA6E9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Eylem gerektiren durumu bildiren kural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3C84B-9E66-43DB-8C56-219ABC03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95175-0548-4C35-BBAE-38C96697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2CEED-7088-4EA3-BBCC-5B8BC5E3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Sistemin durumunu görsel olarak özetler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32D7A-4D4F-4E63-AA94-7F365665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74027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5359E-054A-47C0-8882-6E5D7FFE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SRE TERİMLERİ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7D1DF-2641-4653-B38A-60DC05E4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SRE, güvenilirliği ölçülebilir hedeflere bağlar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2FDB3-3CE5-4561-8FDE-B84D0AB3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E2626-4F36-4FDE-B7EF-FAFE019B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4BC46-34BD-414C-8B1A-6440D465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SLI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88EE8-E606-494A-BF8F-46B27B1D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Hizmetin ölçülen sinyali; örn. başarılı istek oranı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469A7-D1B2-460B-B1CB-CB520A4A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ADE24-F8A9-4DA8-888D-773BE98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SLO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33E72-213C-4BCE-A222-B1C8A3D5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622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SLI için hedef; örn. aylık %99,9 başarı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A46AC-4589-44DD-919A-AF1CDB3B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6BC64-D917-4C06-A977-BC7CA3CB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SLA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9854B-7020-42C1-B92F-C9F8858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Müşteriyle yapılan hizmet seviyesi taahhüdü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02390-8A93-413A-A503-F6E9E25B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43300"/>
            <a:ext cx="514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6626C-FCE9-468E-82A8-B469EF41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Error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7723C-F470-40E4-846F-9D7D0D0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00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SLO içinde kabul edilebilen hata payı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1907E-990B-4FEE-9A29-87E8FD50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024950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D8699-EA94-4B70-A8B8-AF24E49A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PLATFORM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FEA97-B803-43BB-93E6-A52D3686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Platform engineering, geliştiriciye güvenli bir yol sunar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D185F-2BC8-4839-877C-EC382B20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1CF67-3725-4C25-AFCF-2D058D23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E8418-0DD2-449E-A6E2-7ABB57D9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097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Internal Developer Platform: ekiplerin kullandığı ortak platform ürünüdür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4105B-BFA1-4DAF-B773-7FB3F4E4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2B9BE-55DA-41B7-9C47-D06CA06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Self-service: ekip kaynağı destek talebi açmadan tüketebilir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E1F8F-8C36-496B-8292-9CFC5361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B0BBB-B4D9-45C9-95C8-6106485B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575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Golden path: güvenli ve desteklenen varsayılan teslimat yoludur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1C7D2-078F-47BD-9E53-0131AE25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0A4B0-B2D3-40B3-91BA-959FE97D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14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Template: yeni servis için hazır repo, pipeline ve Kubernetes yapısıdır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D0EA6-85D7-4EAF-A24B-0106E10F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028B0-0E56-480F-B037-1A55B337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053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Platform ekibi geliştirici deneyimini ve platform güvenilirliğini ölçer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EFE35-5F68-439D-AACE-F84B72DD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17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bea0943b84170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76212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8344317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4EC49-AB9E-4D30-916C-87CDA46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DEVSECOPS TERİMLERİ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623FA-A647-4DB8-BE58-D24E9E79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DevSecOps, güvenliği teslimat akışının içine yerleştirir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3D008-E8A3-40ED-B336-1BD5B4C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88E78-A6EF-4498-8907-715A415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EE0D-1B26-40A6-AA18-AB6818D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SAST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EDE1D-BCF4-4523-8380-5AEA9941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Kaynak kodda güvenlik analizi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8B391-5677-409F-A70A-9C09436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A794B-9631-4CFC-B941-F000215F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Dependency 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2DACF-FEB0-4FB1-8F3F-66ECAC78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Kütüphane zafiyetlerini kontrol eder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66A28-EC41-47CF-B087-E13E9ACC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A0A56-D91E-437C-9B38-7E3FE80C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Secret 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52B37-F72A-4C98-AB11-E7B077F6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Yanlışlıkla eklenen parola ve token’ları bulur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BBE22-DFD8-4118-8C42-F97B29C3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4BFB7-3601-4C0A-97E4-BE2FBE5D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Image 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2298D-29F0-44A0-8B08-716F908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Container image paketlerini tarar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546D4-2F16-485B-9ADA-FCE7C15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0A558-47C0-4328-A9D6-5D63875A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Policy as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F8749-18FC-4294-B7B4-BEE01EB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Kuralları otomatik ve sürümlü uygular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4EB3-9800-4F6D-99FA-1DF88B10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608BB-12A5-4D6C-8A96-5D1ED633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SBOM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A9D7D-6AF3-4989-9E9B-A24F449F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Artifact içindeki bileşen listesidir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1DB56-B020-45D7-8586-C93B1A47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453797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A9733-A0DF-4FCB-BFB2-C501AD4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GITOPS NEDİR?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6AF71-A638-48E5-B8F6-304EB39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GitOps, çalışan sistemin istenen durumunu Git’te tutar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80206-2341-4CB5-BC8B-233D8773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D521D-9429-4A6A-8B8F-3C286EB9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35D18-3303-4BC1-8C0D-D7DA3046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5E6"/>
                </a:solidFill>
              </a:defRPr>
            </a:pPr>
            <a:r>
              <a:rPr sz="1725" b="1">
                <a:solidFill>
                  <a:srgbClr val="2775E6"/>
                </a:solidFill>
              </a:rPr>
              <a:t>Desired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A6D8B-9297-49EC-BD26-F6304530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Sistemin olması gereken deklaratif durum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47724-DCBA-477D-AE1B-BAD194E2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3EABE-113F-4A4B-A75C-4DCF143D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2405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5E6"/>
                </a:solidFill>
              </a:defRPr>
            </a:pPr>
            <a:r>
              <a:rPr sz="1725" b="1">
                <a:solidFill>
                  <a:srgbClr val="2775E6"/>
                </a:solidFill>
              </a:rPr>
              <a:t>Actual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C725B-C4A0-4FD1-8170-9D23D45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Cluster’da gerçekten çalışan durum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C1819-8AFB-4E57-9437-28D0A2BC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FC75-D7E1-4092-8197-09DC95FF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5E6"/>
                </a:solidFill>
              </a:defRPr>
            </a:pPr>
            <a:r>
              <a:rPr sz="1725" b="1">
                <a:solidFill>
                  <a:srgbClr val="2775E6"/>
                </a:solidFill>
              </a:rPr>
              <a:t>Reconciliation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83542-F626-4BF0-BDB9-E04FF946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İki durumu sürekli karşılaştırıp eşitleme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6CC9D-E488-4CB6-9E2A-D98CBF66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A6EE1-8C72-47D7-9734-C9E4182A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5E6"/>
                </a:solidFill>
              </a:defRPr>
            </a:pPr>
            <a:r>
              <a:rPr sz="1725" b="1">
                <a:solidFill>
                  <a:srgbClr val="2775E6"/>
                </a:solidFill>
              </a:rPr>
              <a:t>Drift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5174B-21B3-477E-95D7-1BE39E40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48125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İstenen ve gerçek durum arasındaki fark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99708-78A2-4501-831C-833A6A5B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GitOps = deklaratif tanım + sürüm kontrolü + otomatik reconciliation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C9429-6F1F-40E8-8F2D-42D7E077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84074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BAD66-8DD5-415A-9168-0FC8FBA4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GITOPS MODELİ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757E0-B812-4A32-897A-B862FD8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Push ve pull modelleri farklı güven sınırları kurar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23706-1269-44D9-8DFB-11CD16C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B42B0-D188-456F-8D16-B35278EC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775E6"/>
                </a:solidFill>
              </a:defRPr>
            </a:pPr>
            <a:r>
              <a:rPr sz="2100" b="1">
                <a:solidFill>
                  <a:srgbClr val="2775E6"/>
                </a:solidFill>
              </a:rPr>
              <a:t>Push 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D2B63-624E-4769-A05F-53F48FEF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A06B"/>
                </a:solidFill>
              </a:defRPr>
            </a:pPr>
            <a:r>
              <a:rPr sz="2100" b="1">
                <a:solidFill>
                  <a:srgbClr val="22A06B"/>
                </a:solidFill>
              </a:rPr>
              <a:t>Pull GitOps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F1AD4-5F2C-424B-8C7A-73924340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3810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698B4-A625-457D-8DD6-6C900A5A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CI sistemi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cluster credential’ına sahiptir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ve değişikliği cluster’a iter.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C56BB-C2DD-45AC-A42D-72C8614C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3810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370A7-DD3F-40B0-87CC-D9E408D3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051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Cluster içindeki controller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Git’i izler ve istenen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durumu kendisi uygular.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E754E-763E-4C54-90EB-A108FAE8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52606D"/>
                </a:solidFill>
              </a:defRPr>
            </a:pPr>
            <a:r>
              <a:rPr sz="300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C1E0C-59E4-4C33-B03B-6771E0DC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Pull modelinde credential cluster içinde kalır ve drift sürekli izlenir.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7B03F-EDC0-461C-A716-FFF32D00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835849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A99A3C-F3FC-4FCC-A23D-6C8E0857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UÇTAN UCA AKIŞ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4E671-D7EA-42A6-8A30-001DA5A5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GitOps akışında kod ve ortam tanımı ayrı görevler üstlenir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142A6-42C4-4B3C-855A-12E7AD8E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BDD0E-ABF9-473C-BC02-DCCD37AB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638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B507F-7DAB-43CD-AC1C-AB4E7269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5E6"/>
                </a:solidFill>
              </a:defRPr>
            </a:pPr>
            <a:r>
              <a:rPr sz="1050" b="1">
                <a:solidFill>
                  <a:srgbClr val="2775E6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73F0B-48B9-4073-9459-2D57C7D2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Kod repo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1B530-799F-4479-8562-DF44008B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Kaynak kod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47D87-A325-43D4-8FB8-E18EDB23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06D"/>
                </a:solidFill>
              </a:defRPr>
            </a:pPr>
            <a:r>
              <a:rPr sz="180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AF5D1-AD9F-4565-968E-A000A029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1638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B3D2D-3837-4F97-9603-109E8FFA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812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5E6"/>
                </a:solidFill>
              </a:defRPr>
            </a:pPr>
            <a:r>
              <a:rPr sz="1050" b="1">
                <a:solidFill>
                  <a:srgbClr val="2775E6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5C362-603C-4CE4-9099-567FBB5E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154E0-21CA-4D7B-B9E2-BBC51699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956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Build +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DA823-BEA5-4D1B-A7A9-DC80E53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06D"/>
                </a:solidFill>
              </a:defRPr>
            </a:pPr>
            <a:r>
              <a:rPr sz="180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165F0-47DC-423D-AB53-F512D138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1638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05788-8386-4B80-B2FA-7E98216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5E6"/>
                </a:solidFill>
              </a:defRPr>
            </a:pPr>
            <a:r>
              <a:rPr sz="1050" b="1">
                <a:solidFill>
                  <a:srgbClr val="2775E6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A8EAC-E824-4DDE-80CC-D3E7B2CA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Registry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8A6F6-0B29-4834-B890-72918F32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C0C98-F389-4BC3-9604-6E387AA6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06D"/>
                </a:solidFill>
              </a:defRPr>
            </a:pPr>
            <a:r>
              <a:rPr sz="180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13DD0-C940-4E9D-BAC3-965432F3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1638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970A0-9F26-463A-ABEA-DDFA431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5E6"/>
                </a:solidFill>
              </a:defRPr>
            </a:pPr>
            <a:r>
              <a:rPr sz="1050" b="1">
                <a:solidFill>
                  <a:srgbClr val="2775E6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C1819-D5AF-4073-A8AC-E132B987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Config 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68873-84BC-4E9B-BE31-4A665245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Manifest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F27CC-3364-4071-9D0A-A99A362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06D"/>
                </a:solidFill>
              </a:defRPr>
            </a:pPr>
            <a:r>
              <a:rPr sz="180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9BAEE-4908-49DD-8599-322A289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1638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D19D2-2463-45CD-BA99-B7130DCA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5E6"/>
                </a:solidFill>
              </a:defRPr>
            </a:pPr>
            <a:r>
              <a:rPr sz="1050" b="1">
                <a:solidFill>
                  <a:srgbClr val="2775E6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593A7-D9AF-4090-BF07-D439DF16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Controller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D103C0-4B8E-4731-BCE3-0C7B016A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956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Sync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54E8B8-1307-4F96-A0FA-0E0D2968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06D"/>
                </a:solidFill>
              </a:defRPr>
            </a:pPr>
            <a:r>
              <a:rPr sz="1800" b="1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505FC-9936-4F5F-ADB1-C11FEAD4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38375"/>
            <a:ext cx="1638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939D1D-BAC0-41BC-9CC4-6260F180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812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21AA1A-BC65-4D7F-8B23-680F27FC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Cluster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B29B24-5869-4554-B7C4-E24E2955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956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Çalışan servis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B7735C-F1BC-4FB6-AF38-7555893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243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CI image üretir; GitOps controller ortam manifestini cluster’a uygular.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E4D56-5BB9-4884-9DFA-F0F5E3D4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233265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DA628-AF65-45F7-96FC-699C11D1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ARGO CD TERİMLERİ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169D3-39E0-4887-A796-0F9AAD60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Argo CD, Kubernetes için GitOps controller’dır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2A747-0BC3-4CC8-8036-C6EA6365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88A58-765C-4071-9B7C-4596E90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EA51A-24AC-4730-9BFB-ACD33007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83A37-3908-4043-A735-A9B3C02C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Bir Git kaynağı ile bir cluster hedefini bağlar.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0400B-109E-4B5B-94CE-0FD6C73C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CF5F-EB81-4D6D-92BF-A45193C0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451E6-F5CE-488F-874B-9FE8DAE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Git’teki tanımı cluster’a uygular.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F814C-4B47-4541-BB0B-A9369377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51C1B-837F-4CBA-A713-0ACA0822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95558-8B79-4E2F-BA1F-5146776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Kaynağın gerçekten hazır olup olmadığını gösterir.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7FD31-AB66-4795-ABB0-8F8F6F99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520D7-AB3C-4E0A-83AF-777A315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Prune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84F55-3044-4C11-B080-F8E9BE07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Git’ten silinen kaynağı cluster’dan kaldırır.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21803-1DF6-4661-A5D1-0372F33A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57694-3DD5-4040-B3BF-CC7C9831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Self-heal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D0964-2F9F-4756-B6B9-5DF65AF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Manuel değişikliği Git durumuna geri döndürür.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28459-1059-4E1F-B3EA-00AE6F1C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8369E-5A3B-444C-A3D1-74CBD2E9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5E6"/>
                </a:solidFill>
              </a:defRPr>
            </a:pPr>
            <a:r>
              <a:rPr sz="1800" b="1">
                <a:solidFill>
                  <a:srgbClr val="2775E6"/>
                </a:solidFill>
              </a:rPr>
              <a:t>ApplicationSet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1E011-0731-40B8-9CBB-4F4E30FA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Bir şablondan çok sayıda Application üretir.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92F6F-660D-4632-B52A-8BBCBC6D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42891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1517A-F62A-4878-98B4-E291406C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GITOPS YAML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D9851-3E23-47F5-B26B-647ECF48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Application YAML: Argo CD örneği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31910-D66E-4770-8506-BEC59290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37DA7-1958-4148-A747-6740E00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42B72-35E3-4148-A80B-AE9AACA9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argoproj.io/v1alpha1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Application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web-prod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namespace: argocd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spec: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source: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repoURL: https://git.example.com/apps.git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targetRevision: main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path: web/prod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destination: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server: https://kubernetes.default.svc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namespace: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syncPolicy: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automated: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prune: true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selfHeal: true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A9DE5-0711-43E8-B50F-EC1C33EA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1F699-9A5E-4308-81AE-7A320DB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source: Git konumu</a:t>
            </a:r>
          </a:p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destination: hedef cluster/namespace</a:t>
            </a:r>
          </a:p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prune: silinen kaynağı kaldırır</a:t>
            </a:r>
          </a:p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selfHeal: drift’i düzeltir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FE2C2-436D-4CCA-B52C-75AF294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630609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365A5-87BC-45A2-BAD7-AE58ED15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UYGULAMA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9084B-A4D7-4E23-A300-EA43DEF7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Bir değişiklik üretime kadar nasıl ilerler?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FFA16-4E09-43F3-9A7B-211EDC3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C1B95-9BFC-4A48-8A39-5027F981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75E6"/>
                </a:solidFill>
              </a:defRPr>
            </a:pPr>
            <a:r>
              <a:rPr sz="1575" b="1">
                <a:solidFill>
                  <a:srgbClr val="2775E6"/>
                </a:solidFill>
              </a:rPr>
              <a:t>1. Geliştirici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048E2-A344-4EC8-AE91-73A4B0C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Kodu commit eder ve merge request açar.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4DA18-A095-4A7C-B5F1-40FC3E95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75E6"/>
                </a:solidFill>
              </a:defRPr>
            </a:pPr>
            <a:r>
              <a:rPr sz="1575" b="1">
                <a:solidFill>
                  <a:srgbClr val="2775E6"/>
                </a:solidFill>
              </a:rPr>
              <a:t>2. 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6F653-39AD-4A7B-ABCB-05645D52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98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Test eder, image oluşturur, tarar ve registry’ye yollar.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5415D-BAD5-4530-B497-30A7772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75E6"/>
                </a:solidFill>
              </a:defRPr>
            </a:pPr>
            <a:r>
              <a:rPr sz="1575" b="1">
                <a:solidFill>
                  <a:srgbClr val="2775E6"/>
                </a:solidFill>
              </a:rPr>
              <a:t>3. Ortam değişikliği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A7E9F-4EE1-4014-AF57-1AEBB61E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480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Config repo’daki image tag pull request ile güncellenir.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81C62-DACB-4253-9C25-9AD982C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75E6"/>
                </a:solidFill>
              </a:defRPr>
            </a:pPr>
            <a:r>
              <a:rPr sz="1575" b="1">
                <a:solidFill>
                  <a:srgbClr val="2775E6"/>
                </a:solidFill>
              </a:rPr>
              <a:t>4. GitOps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FA53E-571D-4557-A9EF-29A82693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862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Argo CD farkı görür ve Kubernetes’e uygular.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7419C-B38C-4579-B05C-59BE37D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75E6"/>
                </a:solidFill>
              </a:defRPr>
            </a:pPr>
            <a:r>
              <a:rPr sz="1575" b="1">
                <a:solidFill>
                  <a:srgbClr val="2775E6"/>
                </a:solidFill>
              </a:rPr>
              <a:t>5. Operasyon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63F83-123B-4814-8047-5BCFC211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244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Health, metric ve log kontrol edilir; sorun varsa Git geri alınır.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4D1D6-A3CA-4CF9-A844-6D15AB9F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231747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15D02-EF76-4681-ABF6-5490622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5E6"/>
                </a:solidFill>
              </a:defRPr>
            </a:pPr>
            <a:r>
              <a:rPr sz="975" b="1">
                <a:solidFill>
                  <a:srgbClr val="2775E6"/>
                </a:solidFill>
              </a:rPr>
              <a:t>SONUÇ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D80AB-1408-42CF-8910-DCBA6CFF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Özet: kültür, mimari ve operasyon birlikte çalışır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B761B-272C-4036-BABD-04AAA94B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9528C-4190-4629-8F1F-10E300D8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5E6"/>
                </a:solidFill>
              </a:defRPr>
            </a:pPr>
            <a:r>
              <a:rPr sz="1350" b="1">
                <a:solidFill>
                  <a:srgbClr val="2775E6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A819F-8FC1-45DB-B6DF-5E754B7F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DevOps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09BBF-418D-4D07-95C0-08DD19ED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Ortak sahiplik ve hızlı geri bildirim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441DA-1637-46BA-B8DC-CCD4C954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5E6"/>
                </a:solidFill>
              </a:defRPr>
            </a:pPr>
            <a:r>
              <a:rPr sz="1350" b="1">
                <a:solidFill>
                  <a:srgbClr val="2775E6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24368-992E-487D-9A8D-FBCD2253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CI/CD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710DA-B176-4E90-A81F-240BB8DE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Kodun otomatik doğrulanması ve teslimatı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4FBDB-B7C1-409A-95B8-B8B6A11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5E6"/>
                </a:solidFill>
              </a:defRPr>
            </a:pPr>
            <a:r>
              <a:rPr sz="1350" b="1">
                <a:solidFill>
                  <a:srgbClr val="2775E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7ADCC-BCB8-4F28-86C0-10CCA9B5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81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Cloud-native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A6B90-C144-47C4-9046-A6A34E6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Esnek, dayanıklı ve gözlemlenebilir uygulama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447B2-7281-43E4-81EE-15634965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5E6"/>
                </a:solidFill>
              </a:defRPr>
            </a:pPr>
            <a:r>
              <a:rPr sz="1350" b="1">
                <a:solidFill>
                  <a:srgbClr val="2775E6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90A9C-2F7D-431E-8710-79730C5B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6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B5FF6-D9E7-4FD9-84C7-6AF8977E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624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Ekipler için güvenli self-service yolu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E3CA1-579B-4D76-B44B-3BFFE68C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5E6"/>
                </a:solidFill>
              </a:defRPr>
            </a:pPr>
            <a:r>
              <a:rPr sz="1350" b="1">
                <a:solidFill>
                  <a:srgbClr val="2775E6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A489C-22AC-4116-B147-1849D020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43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GitOps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6F246-1928-4471-B58E-D55313B8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Git tabanlı desired state ve reconciliation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97FDB-31B2-47D7-872C-EDABED84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Başlangıç önerisi: bir pilot servis + basit pipeline + temel gözlemleme + Argo CD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DED8C-978B-462A-ACB6-D9A2C24F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65932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2026-08-29T15:08:10.1950000Z</dcterms:created>
  <dcterms:modified xsi:type="dcterms:W3CDTF">2026-08-29T15:08:10.1960000Z</dcterms:modified>
</coreProperties>
</file>